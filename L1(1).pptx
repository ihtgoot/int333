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36" autoAdjust="0"/>
    <p:restoredTop sz="85024" autoAdjust="0"/>
  </p:normalViewPr>
  <p:slideViewPr>
    <p:cSldViewPr snapToGrid="0" snapToObjects="1">
      <p:cViewPr varScale="1">
        <p:scale>
          <a:sx n="57" d="100"/>
          <a:sy n="57" d="100"/>
        </p:scale>
        <p:origin x="10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13158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6D"/>
        </a:solidFill>
        <a:effectLst/>
      </p:bgPr>
    </p:bg>
    <p:spTree>
      <p:nvGrpSpPr>
        <p:cNvPr id="1" name=""/>
        <p:cNvGrpSpPr/>
        <p:nvPr/>
      </p:nvGrpSpPr>
      <p:grpSpPr>
        <a:xfrm>
          <a:off x="0" y="0"/>
          <a:ext cx="0" cy="0"/>
          <a:chOff x="0" y="0"/>
          <a:chExt cx="0" cy="0"/>
        </a:xfrm>
      </p:grpSpPr>
      <p:sp>
        <p:nvSpPr>
          <p:cNvPr id="2" name="Shape 0"/>
          <p:cNvSpPr/>
          <p:nvPr/>
        </p:nvSpPr>
        <p:spPr>
          <a:xfrm>
            <a:off x="9692640" y="-1097280"/>
            <a:ext cx="4114800" cy="4114800"/>
          </a:xfrm>
          <a:prstGeom prst="ellipse">
            <a:avLst/>
          </a:prstGeom>
          <a:solidFill>
            <a:srgbClr val="12467F"/>
          </a:solidFill>
          <a:ln/>
        </p:spPr>
      </p:sp>
      <p:sp>
        <p:nvSpPr>
          <p:cNvPr id="3" name="Shape 1"/>
          <p:cNvSpPr/>
          <p:nvPr/>
        </p:nvSpPr>
        <p:spPr>
          <a:xfrm>
            <a:off x="10607040" y="4206240"/>
            <a:ext cx="2926080" cy="2926080"/>
          </a:xfrm>
          <a:prstGeom prst="ellipse">
            <a:avLst/>
          </a:prstGeom>
          <a:solidFill>
            <a:srgbClr val="12467F"/>
          </a:solidFill>
          <a:ln/>
        </p:spPr>
      </p:sp>
      <p:sp>
        <p:nvSpPr>
          <p:cNvPr id="4" name="Shape 2"/>
          <p:cNvSpPr/>
          <p:nvPr/>
        </p:nvSpPr>
        <p:spPr>
          <a:xfrm>
            <a:off x="-914400" y="5120640"/>
            <a:ext cx="2743200" cy="2743200"/>
          </a:xfrm>
          <a:prstGeom prst="ellipse">
            <a:avLst/>
          </a:prstGeom>
          <a:solidFill>
            <a:srgbClr val="0E4477"/>
          </a:solidFill>
          <a:ln/>
        </p:spPr>
      </p:sp>
      <p:sp>
        <p:nvSpPr>
          <p:cNvPr id="8" name="Text 6"/>
          <p:cNvSpPr/>
          <p:nvPr/>
        </p:nvSpPr>
        <p:spPr>
          <a:xfrm>
            <a:off x="640080" y="2286000"/>
            <a:ext cx="10881360" cy="1188720"/>
          </a:xfrm>
          <a:prstGeom prst="rect">
            <a:avLst/>
          </a:prstGeom>
          <a:noFill/>
          <a:ln/>
        </p:spPr>
        <p:txBody>
          <a:bodyPr wrap="square" rtlCol="0" anchor="ctr"/>
          <a:lstStyle/>
          <a:p>
            <a:pPr marL="0" indent="0" algn="l">
              <a:buNone/>
            </a:pPr>
            <a:r>
              <a:rPr lang="en-US" sz="4800" b="1" dirty="0">
                <a:solidFill>
                  <a:srgbClr val="FFFFFF"/>
                </a:solidFill>
                <a:latin typeface="Cambria" pitchFamily="34" charset="0"/>
                <a:ea typeface="Cambria" pitchFamily="34" charset="-122"/>
                <a:cs typeface="Cambria" pitchFamily="34" charset="-120"/>
              </a:rPr>
              <a:t>       Configuration Management</a:t>
            </a:r>
            <a:endParaRPr lang="en-US" sz="4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What is Configuration Management?</a:t>
            </a:r>
            <a:endParaRPr lang="en-US" sz="3400" dirty="0"/>
          </a:p>
        </p:txBody>
      </p:sp>
      <p:sp>
        <p:nvSpPr>
          <p:cNvPr id="3" name="Shape 1"/>
          <p:cNvSpPr/>
          <p:nvPr/>
        </p:nvSpPr>
        <p:spPr>
          <a:xfrm>
            <a:off x="548640" y="1554480"/>
            <a:ext cx="6492240" cy="3200400"/>
          </a:xfrm>
          <a:prstGeom prst="roundRect">
            <a:avLst>
              <a:gd name="adj" fmla="val 3429"/>
            </a:avLst>
          </a:prstGeom>
          <a:solidFill>
            <a:srgbClr val="EAF3FC"/>
          </a:solidFill>
          <a:ln/>
          <a:effectLst>
            <a:outerShdw blurRad="76200" dist="25400" dir="5400000" algn="bl" rotWithShape="0">
              <a:srgbClr val="3A5A80">
                <a:alpha val="18000"/>
              </a:srgbClr>
            </a:outerShdw>
          </a:effectLst>
        </p:spPr>
      </p:sp>
      <p:sp>
        <p:nvSpPr>
          <p:cNvPr id="4" name="Text 2"/>
          <p:cNvSpPr/>
          <p:nvPr/>
        </p:nvSpPr>
        <p:spPr>
          <a:xfrm>
            <a:off x="868680" y="1783080"/>
            <a:ext cx="5852160" cy="365760"/>
          </a:xfrm>
          <a:prstGeom prst="rect">
            <a:avLst/>
          </a:prstGeom>
          <a:noFill/>
          <a:ln/>
        </p:spPr>
        <p:txBody>
          <a:bodyPr wrap="square" rtlCol="0" anchor="ctr"/>
          <a:lstStyle/>
          <a:p>
            <a:pPr marL="0" indent="0">
              <a:buNone/>
            </a:pPr>
            <a:r>
              <a:rPr lang="en-US" sz="1800" b="1" dirty="0">
                <a:solidFill>
                  <a:srgbClr val="0B3C6D"/>
                </a:solidFill>
                <a:latin typeface="Calibri" pitchFamily="34" charset="0"/>
                <a:ea typeface="Calibri" pitchFamily="34" charset="-122"/>
                <a:cs typeface="Calibri" pitchFamily="34" charset="-120"/>
              </a:rPr>
              <a:t>Definition</a:t>
            </a:r>
            <a:endParaRPr lang="en-US" sz="1800" dirty="0"/>
          </a:p>
        </p:txBody>
      </p:sp>
      <p:sp>
        <p:nvSpPr>
          <p:cNvPr id="5" name="Text 3"/>
          <p:cNvSpPr/>
          <p:nvPr/>
        </p:nvSpPr>
        <p:spPr>
          <a:xfrm>
            <a:off x="868680" y="2194560"/>
            <a:ext cx="5852160" cy="1005840"/>
          </a:xfrm>
          <a:prstGeom prst="rect">
            <a:avLst/>
          </a:prstGeom>
          <a:noFill/>
          <a:ln/>
        </p:spPr>
        <p:txBody>
          <a:bodyPr wrap="square" rtlCol="0" anchor="t"/>
          <a:lstStyle/>
          <a:p>
            <a:pPr marL="0" indent="0">
              <a:lnSpc>
                <a:spcPct val="115000"/>
              </a:lnSpc>
              <a:buNone/>
            </a:pPr>
            <a:r>
              <a:rPr lang="en-US" sz="1800" dirty="0">
                <a:solidFill>
                  <a:srgbClr val="13263C"/>
                </a:solidFill>
                <a:latin typeface="Calibri" pitchFamily="34" charset="0"/>
                <a:ea typeface="Calibri" pitchFamily="34" charset="-122"/>
                <a:cs typeface="Calibri" pitchFamily="34" charset="-120"/>
              </a:rPr>
              <a:t>Configuration Management (CM) is the process of automatically managing and maintaining the configuration of servers, applications, and software.</a:t>
            </a:r>
            <a:endParaRPr lang="en-US" sz="1800" dirty="0"/>
          </a:p>
        </p:txBody>
      </p:sp>
      <p:sp>
        <p:nvSpPr>
          <p:cNvPr id="6" name="Text 4"/>
          <p:cNvSpPr/>
          <p:nvPr/>
        </p:nvSpPr>
        <p:spPr>
          <a:xfrm>
            <a:off x="868680" y="3246120"/>
            <a:ext cx="5852160" cy="1280160"/>
          </a:xfrm>
          <a:prstGeom prst="rect">
            <a:avLst/>
          </a:prstGeom>
          <a:noFill/>
          <a:ln/>
        </p:spPr>
        <p:txBody>
          <a:bodyPr wrap="square" rtlCol="0" anchor="t"/>
          <a:lstStyle/>
          <a:p>
            <a:pPr marL="0" indent="0">
              <a:lnSpc>
                <a:spcPct val="115000"/>
              </a:lnSpc>
              <a:buNone/>
            </a:pPr>
            <a:r>
              <a:rPr lang="en-US" sz="1800" dirty="0">
                <a:solidFill>
                  <a:srgbClr val="13263C"/>
                </a:solidFill>
                <a:latin typeface="Calibri" pitchFamily="34" charset="0"/>
                <a:ea typeface="Calibri" pitchFamily="34" charset="-122"/>
                <a:cs typeface="Calibri" pitchFamily="34" charset="-120"/>
              </a:rPr>
              <a:t>It ensures every system in an environment is configured consistently and always remains in the desired state — automatically, without manual effort.</a:t>
            </a:r>
            <a:endParaRPr lang="en-US" sz="1800" dirty="0"/>
          </a:p>
        </p:txBody>
      </p:sp>
      <p:sp>
        <p:nvSpPr>
          <p:cNvPr id="7" name="Text 5"/>
          <p:cNvSpPr/>
          <p:nvPr/>
        </p:nvSpPr>
        <p:spPr>
          <a:xfrm>
            <a:off x="7406640" y="1554480"/>
            <a:ext cx="4206240" cy="320040"/>
          </a:xfrm>
          <a:prstGeom prst="rect">
            <a:avLst/>
          </a:prstGeom>
          <a:noFill/>
          <a:ln/>
        </p:spPr>
        <p:txBody>
          <a:bodyPr wrap="square" rtlCol="0" anchor="ctr"/>
          <a:lstStyle/>
          <a:p>
            <a:pPr marL="0" indent="0">
              <a:buNone/>
            </a:pPr>
            <a:r>
              <a:rPr lang="en-US" sz="1600" b="1" dirty="0">
                <a:solidFill>
                  <a:srgbClr val="0B3C6D"/>
                </a:solidFill>
                <a:latin typeface="Calibri" pitchFamily="34" charset="0"/>
                <a:ea typeface="Calibri" pitchFamily="34" charset="-122"/>
                <a:cs typeface="Calibri" pitchFamily="34" charset="-120"/>
              </a:rPr>
              <a:t>The Core Idea</a:t>
            </a:r>
            <a:endParaRPr lang="en-US" sz="1600" dirty="0"/>
          </a:p>
        </p:txBody>
      </p:sp>
      <p:sp>
        <p:nvSpPr>
          <p:cNvPr id="8" name="Shape 6"/>
          <p:cNvSpPr/>
          <p:nvPr/>
        </p:nvSpPr>
        <p:spPr>
          <a:xfrm>
            <a:off x="7406640" y="1965960"/>
            <a:ext cx="4206240" cy="594360"/>
          </a:xfrm>
          <a:prstGeom prst="roundRect">
            <a:avLst>
              <a:gd name="adj" fmla="val 15385"/>
            </a:avLst>
          </a:prstGeom>
          <a:solidFill>
            <a:srgbClr val="2E86DE"/>
          </a:solidFill>
          <a:ln/>
          <a:effectLst>
            <a:outerShdw blurRad="63500" dist="25400" dir="5400000" algn="bl" rotWithShape="0">
              <a:srgbClr val="3A5A80">
                <a:alpha val="18000"/>
              </a:srgbClr>
            </a:outerShdw>
          </a:effectLst>
        </p:spPr>
      </p:sp>
      <p:sp>
        <p:nvSpPr>
          <p:cNvPr id="9" name="Text 7"/>
          <p:cNvSpPr/>
          <p:nvPr/>
        </p:nvSpPr>
        <p:spPr>
          <a:xfrm>
            <a:off x="7479792" y="1965960"/>
            <a:ext cx="4059936" cy="59436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Desired State</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(Defined by Admin)</a:t>
            </a:r>
            <a:endParaRPr lang="en-US" sz="1400" dirty="0"/>
          </a:p>
        </p:txBody>
      </p:sp>
      <p:sp>
        <p:nvSpPr>
          <p:cNvPr id="10" name="Shape 8"/>
          <p:cNvSpPr/>
          <p:nvPr/>
        </p:nvSpPr>
        <p:spPr>
          <a:xfrm>
            <a:off x="9509760" y="2606040"/>
            <a:ext cx="0" cy="457200"/>
          </a:xfrm>
          <a:prstGeom prst="line">
            <a:avLst/>
          </a:prstGeom>
          <a:noFill/>
          <a:ln w="31750">
            <a:solidFill>
              <a:srgbClr val="2E86DE"/>
            </a:solidFill>
            <a:prstDash val="solid"/>
            <a:tailEnd type="triangle"/>
          </a:ln>
        </p:spPr>
      </p:sp>
      <p:sp>
        <p:nvSpPr>
          <p:cNvPr id="11" name="Shape 9"/>
          <p:cNvSpPr/>
          <p:nvPr/>
        </p:nvSpPr>
        <p:spPr>
          <a:xfrm>
            <a:off x="7406640" y="3108960"/>
            <a:ext cx="4206240" cy="594360"/>
          </a:xfrm>
          <a:prstGeom prst="roundRect">
            <a:avLst>
              <a:gd name="adj" fmla="val 15385"/>
            </a:avLst>
          </a:prstGeom>
          <a:solidFill>
            <a:srgbClr val="0B3C6D"/>
          </a:solidFill>
          <a:ln/>
          <a:effectLst>
            <a:outerShdw blurRad="63500" dist="25400" dir="5400000" algn="bl" rotWithShape="0">
              <a:srgbClr val="3A5A80">
                <a:alpha val="18000"/>
              </a:srgbClr>
            </a:outerShdw>
          </a:effectLst>
        </p:spPr>
      </p:sp>
      <p:sp>
        <p:nvSpPr>
          <p:cNvPr id="12" name="Text 10"/>
          <p:cNvSpPr/>
          <p:nvPr/>
        </p:nvSpPr>
        <p:spPr>
          <a:xfrm>
            <a:off x="7479792" y="3108960"/>
            <a:ext cx="4059936" cy="59436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Configuration</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Management Tool</a:t>
            </a:r>
            <a:endParaRPr lang="en-US" sz="1400" dirty="0"/>
          </a:p>
        </p:txBody>
      </p:sp>
      <p:sp>
        <p:nvSpPr>
          <p:cNvPr id="13" name="Shape 11"/>
          <p:cNvSpPr/>
          <p:nvPr/>
        </p:nvSpPr>
        <p:spPr>
          <a:xfrm>
            <a:off x="9509760" y="3749040"/>
            <a:ext cx="0" cy="457200"/>
          </a:xfrm>
          <a:prstGeom prst="line">
            <a:avLst/>
          </a:prstGeom>
          <a:noFill/>
          <a:ln w="31750">
            <a:solidFill>
              <a:srgbClr val="2E86DE"/>
            </a:solidFill>
            <a:prstDash val="solid"/>
            <a:tailEnd type="triangle"/>
          </a:ln>
        </p:spPr>
      </p:sp>
      <p:sp>
        <p:nvSpPr>
          <p:cNvPr id="14" name="Shape 12"/>
          <p:cNvSpPr/>
          <p:nvPr/>
        </p:nvSpPr>
        <p:spPr>
          <a:xfrm>
            <a:off x="7406640" y="4251960"/>
            <a:ext cx="4206240" cy="594360"/>
          </a:xfrm>
          <a:prstGeom prst="roundRect">
            <a:avLst>
              <a:gd name="adj" fmla="val 15385"/>
            </a:avLst>
          </a:prstGeom>
          <a:solidFill>
            <a:srgbClr val="2E86DE"/>
          </a:solidFill>
          <a:ln/>
          <a:effectLst>
            <a:outerShdw blurRad="63500" dist="25400" dir="5400000" algn="bl" rotWithShape="0">
              <a:srgbClr val="3A5A80">
                <a:alpha val="18000"/>
              </a:srgbClr>
            </a:outerShdw>
          </a:effectLst>
        </p:spPr>
      </p:sp>
      <p:sp>
        <p:nvSpPr>
          <p:cNvPr id="15" name="Text 13"/>
          <p:cNvSpPr/>
          <p:nvPr/>
        </p:nvSpPr>
        <p:spPr>
          <a:xfrm>
            <a:off x="7479792" y="4251960"/>
            <a:ext cx="4059936" cy="59436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Servers / Apps</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(Auto-Configured)</a:t>
            </a:r>
            <a:endParaRPr lang="en-US" sz="1400" dirty="0"/>
          </a:p>
        </p:txBody>
      </p:sp>
      <p:sp>
        <p:nvSpPr>
          <p:cNvPr id="16" name="Text 14"/>
          <p:cNvSpPr/>
          <p:nvPr/>
        </p:nvSpPr>
        <p:spPr>
          <a:xfrm>
            <a:off x="548640" y="4983480"/>
            <a:ext cx="3657600" cy="320040"/>
          </a:xfrm>
          <a:prstGeom prst="rect">
            <a:avLst/>
          </a:prstGeom>
          <a:noFill/>
          <a:ln/>
        </p:spPr>
        <p:txBody>
          <a:bodyPr wrap="square" rtlCol="0" anchor="ctr"/>
          <a:lstStyle/>
          <a:p>
            <a:pPr marL="0" indent="0">
              <a:buNone/>
            </a:pPr>
            <a:r>
              <a:rPr lang="en-US" sz="1600" b="1" dirty="0">
                <a:solidFill>
                  <a:srgbClr val="0B3C6D"/>
                </a:solidFill>
                <a:latin typeface="Calibri" pitchFamily="34" charset="0"/>
                <a:ea typeface="Calibri" pitchFamily="34" charset="-122"/>
                <a:cs typeface="Calibri" pitchFamily="34" charset="-120"/>
              </a:rPr>
              <a:t>Why It's Needed</a:t>
            </a:r>
            <a:endParaRPr lang="en-US" sz="1600" dirty="0"/>
          </a:p>
        </p:txBody>
      </p:sp>
      <p:sp>
        <p:nvSpPr>
          <p:cNvPr id="17" name="Shape 15"/>
          <p:cNvSpPr/>
          <p:nvPr/>
        </p:nvSpPr>
        <p:spPr>
          <a:xfrm>
            <a:off x="548640" y="5349240"/>
            <a:ext cx="2606040" cy="640080"/>
          </a:xfrm>
          <a:prstGeom prst="roundRect">
            <a:avLst>
              <a:gd name="adj" fmla="val 14286"/>
            </a:avLst>
          </a:prstGeom>
          <a:solidFill>
            <a:srgbClr val="D6E9FA"/>
          </a:solidFill>
          <a:ln w="12700">
            <a:solidFill>
              <a:srgbClr val="2E86DE"/>
            </a:solidFill>
            <a:prstDash val="solid"/>
          </a:ln>
        </p:spPr>
      </p:sp>
      <p:sp>
        <p:nvSpPr>
          <p:cNvPr id="18" name="Text 16"/>
          <p:cNvSpPr/>
          <p:nvPr/>
        </p:nvSpPr>
        <p:spPr>
          <a:xfrm>
            <a:off x="621792" y="5349240"/>
            <a:ext cx="2459736" cy="640080"/>
          </a:xfrm>
          <a:prstGeom prst="rect">
            <a:avLst/>
          </a:prstGeom>
          <a:noFill/>
          <a:ln/>
        </p:spPr>
        <p:txBody>
          <a:bodyPr wrap="square" rtlCol="0" anchor="ctr"/>
          <a:lstStyle/>
          <a:p>
            <a:pPr marL="0" indent="0" algn="ctr">
              <a:buNone/>
            </a:pPr>
            <a:r>
              <a:rPr lang="en-US" sz="1300" b="1" dirty="0">
                <a:solidFill>
                  <a:srgbClr val="0B3C6D"/>
                </a:solidFill>
                <a:latin typeface="Calibri" pitchFamily="34" charset="0"/>
                <a:ea typeface="Calibri" pitchFamily="34" charset="-122"/>
                <a:cs typeface="Calibri" pitchFamily="34" charset="-120"/>
              </a:rPr>
              <a:t>Eliminates manual errors</a:t>
            </a:r>
            <a:endParaRPr lang="en-US" sz="1300" dirty="0"/>
          </a:p>
        </p:txBody>
      </p:sp>
      <p:sp>
        <p:nvSpPr>
          <p:cNvPr id="19" name="Shape 17"/>
          <p:cNvSpPr/>
          <p:nvPr/>
        </p:nvSpPr>
        <p:spPr>
          <a:xfrm>
            <a:off x="3264408" y="5349240"/>
            <a:ext cx="2606040" cy="640080"/>
          </a:xfrm>
          <a:prstGeom prst="roundRect">
            <a:avLst>
              <a:gd name="adj" fmla="val 14286"/>
            </a:avLst>
          </a:prstGeom>
          <a:solidFill>
            <a:srgbClr val="D6E9FA"/>
          </a:solidFill>
          <a:ln w="12700">
            <a:solidFill>
              <a:srgbClr val="2E86DE"/>
            </a:solidFill>
            <a:prstDash val="solid"/>
          </a:ln>
        </p:spPr>
      </p:sp>
      <p:sp>
        <p:nvSpPr>
          <p:cNvPr id="20" name="Text 18"/>
          <p:cNvSpPr/>
          <p:nvPr/>
        </p:nvSpPr>
        <p:spPr>
          <a:xfrm>
            <a:off x="3337560" y="5349240"/>
            <a:ext cx="2459736" cy="640080"/>
          </a:xfrm>
          <a:prstGeom prst="rect">
            <a:avLst/>
          </a:prstGeom>
          <a:noFill/>
          <a:ln/>
        </p:spPr>
        <p:txBody>
          <a:bodyPr wrap="square" rtlCol="0" anchor="ctr"/>
          <a:lstStyle/>
          <a:p>
            <a:pPr marL="0" indent="0" algn="ctr">
              <a:buNone/>
            </a:pPr>
            <a:r>
              <a:rPr lang="en-US" sz="1300" b="1" dirty="0">
                <a:solidFill>
                  <a:srgbClr val="0B3C6D"/>
                </a:solidFill>
                <a:latin typeface="Calibri" pitchFamily="34" charset="0"/>
                <a:ea typeface="Calibri" pitchFamily="34" charset="-122"/>
                <a:cs typeface="Calibri" pitchFamily="34" charset="-120"/>
              </a:rPr>
              <a:t>Saves time via automation</a:t>
            </a:r>
            <a:endParaRPr lang="en-US" sz="1300" dirty="0"/>
          </a:p>
        </p:txBody>
      </p:sp>
      <p:sp>
        <p:nvSpPr>
          <p:cNvPr id="21" name="Shape 19"/>
          <p:cNvSpPr/>
          <p:nvPr/>
        </p:nvSpPr>
        <p:spPr>
          <a:xfrm>
            <a:off x="5980176" y="5349240"/>
            <a:ext cx="2606040" cy="640080"/>
          </a:xfrm>
          <a:prstGeom prst="roundRect">
            <a:avLst>
              <a:gd name="adj" fmla="val 14286"/>
            </a:avLst>
          </a:prstGeom>
          <a:solidFill>
            <a:srgbClr val="D6E9FA"/>
          </a:solidFill>
          <a:ln w="12700">
            <a:solidFill>
              <a:srgbClr val="2E86DE"/>
            </a:solidFill>
            <a:prstDash val="solid"/>
          </a:ln>
        </p:spPr>
      </p:sp>
      <p:sp>
        <p:nvSpPr>
          <p:cNvPr id="22" name="Text 20"/>
          <p:cNvSpPr/>
          <p:nvPr/>
        </p:nvSpPr>
        <p:spPr>
          <a:xfrm>
            <a:off x="6053328" y="5349240"/>
            <a:ext cx="2459736" cy="640080"/>
          </a:xfrm>
          <a:prstGeom prst="rect">
            <a:avLst/>
          </a:prstGeom>
          <a:noFill/>
          <a:ln/>
        </p:spPr>
        <p:txBody>
          <a:bodyPr wrap="square" rtlCol="0" anchor="ctr"/>
          <a:lstStyle/>
          <a:p>
            <a:pPr marL="0" indent="0" algn="ctr">
              <a:buNone/>
            </a:pPr>
            <a:r>
              <a:rPr lang="en-US" sz="1300" b="1" dirty="0">
                <a:solidFill>
                  <a:srgbClr val="0B3C6D"/>
                </a:solidFill>
                <a:latin typeface="Calibri" pitchFamily="34" charset="0"/>
                <a:ea typeface="Calibri" pitchFamily="34" charset="-122"/>
                <a:cs typeface="Calibri" pitchFamily="34" charset="-120"/>
              </a:rPr>
              <a:t>Ensures consistency</a:t>
            </a:r>
            <a:endParaRPr lang="en-US" sz="1300" dirty="0"/>
          </a:p>
        </p:txBody>
      </p:sp>
      <p:sp>
        <p:nvSpPr>
          <p:cNvPr id="23" name="Shape 21"/>
          <p:cNvSpPr/>
          <p:nvPr/>
        </p:nvSpPr>
        <p:spPr>
          <a:xfrm>
            <a:off x="8695944" y="5349240"/>
            <a:ext cx="2606040" cy="640080"/>
          </a:xfrm>
          <a:prstGeom prst="roundRect">
            <a:avLst>
              <a:gd name="adj" fmla="val 14286"/>
            </a:avLst>
          </a:prstGeom>
          <a:solidFill>
            <a:srgbClr val="D6E9FA"/>
          </a:solidFill>
          <a:ln w="12700">
            <a:solidFill>
              <a:srgbClr val="2E86DE"/>
            </a:solidFill>
            <a:prstDash val="solid"/>
          </a:ln>
        </p:spPr>
      </p:sp>
      <p:sp>
        <p:nvSpPr>
          <p:cNvPr id="24" name="Text 22"/>
          <p:cNvSpPr/>
          <p:nvPr/>
        </p:nvSpPr>
        <p:spPr>
          <a:xfrm>
            <a:off x="8769096" y="5349240"/>
            <a:ext cx="2459736" cy="640080"/>
          </a:xfrm>
          <a:prstGeom prst="rect">
            <a:avLst/>
          </a:prstGeom>
          <a:noFill/>
          <a:ln/>
        </p:spPr>
        <p:txBody>
          <a:bodyPr wrap="square" rtlCol="0" anchor="ctr"/>
          <a:lstStyle/>
          <a:p>
            <a:pPr marL="0" indent="0" algn="ctr">
              <a:buNone/>
            </a:pPr>
            <a:r>
              <a:rPr lang="en-US" sz="1300" b="1" dirty="0">
                <a:solidFill>
                  <a:srgbClr val="0B3C6D"/>
                </a:solidFill>
                <a:latin typeface="Calibri" pitchFamily="34" charset="0"/>
                <a:ea typeface="Calibri" pitchFamily="34" charset="-122"/>
                <a:cs typeface="Calibri" pitchFamily="34" charset="-120"/>
              </a:rPr>
              <a:t>Faster, reliable deployment</a:t>
            </a:r>
            <a:endParaRPr lang="en-US" sz="1300" dirty="0"/>
          </a:p>
        </p:txBody>
      </p:sp>
      <p:sp>
        <p:nvSpPr>
          <p:cNvPr id="25" name="Text 23"/>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Configuration Management</a:t>
            </a:r>
            <a:endParaRPr lang="en-US" sz="1100" dirty="0"/>
          </a:p>
        </p:txBody>
      </p:sp>
      <p:sp>
        <p:nvSpPr>
          <p:cNvPr id="26" name="Text 24"/>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Why, When &amp; Where is CM Used?</a:t>
            </a:r>
            <a:endParaRPr lang="en-US" sz="3400" dirty="0"/>
          </a:p>
        </p:txBody>
      </p:sp>
      <p:sp>
        <p:nvSpPr>
          <p:cNvPr id="3" name="Shape 1"/>
          <p:cNvSpPr/>
          <p:nvPr/>
        </p:nvSpPr>
        <p:spPr>
          <a:xfrm>
            <a:off x="548640" y="1554480"/>
            <a:ext cx="3566160" cy="4572000"/>
          </a:xfrm>
          <a:prstGeom prst="roundRect">
            <a:avLst>
              <a:gd name="adj" fmla="val 3077"/>
            </a:avLst>
          </a:prstGeom>
          <a:solidFill>
            <a:srgbClr val="EAF3FC"/>
          </a:solidFill>
          <a:ln/>
          <a:effectLst>
            <a:outerShdw blurRad="76200" dist="25400" dir="5400000" algn="bl" rotWithShape="0">
              <a:srgbClr val="3A5A80">
                <a:alpha val="18000"/>
              </a:srgbClr>
            </a:outerShdw>
          </a:effectLst>
        </p:spPr>
      </p:sp>
      <p:sp>
        <p:nvSpPr>
          <p:cNvPr id="4" name="Shape 2"/>
          <p:cNvSpPr/>
          <p:nvPr/>
        </p:nvSpPr>
        <p:spPr>
          <a:xfrm>
            <a:off x="822960" y="1783080"/>
            <a:ext cx="502920" cy="502920"/>
          </a:xfrm>
          <a:prstGeom prst="ellipse">
            <a:avLst/>
          </a:prstGeom>
          <a:solidFill>
            <a:srgbClr val="2E86DE"/>
          </a:solidFill>
          <a:ln/>
        </p:spPr>
      </p:sp>
      <p:sp>
        <p:nvSpPr>
          <p:cNvPr id="5" name="Text 3"/>
          <p:cNvSpPr/>
          <p:nvPr/>
        </p:nvSpPr>
        <p:spPr>
          <a:xfrm>
            <a:off x="822960" y="178308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6" name="Text 4"/>
          <p:cNvSpPr/>
          <p:nvPr/>
        </p:nvSpPr>
        <p:spPr>
          <a:xfrm>
            <a:off x="1463040" y="1783080"/>
            <a:ext cx="2468880" cy="502920"/>
          </a:xfrm>
          <a:prstGeom prst="rect">
            <a:avLst/>
          </a:prstGeom>
          <a:noFill/>
          <a:ln/>
        </p:spPr>
        <p:txBody>
          <a:bodyPr wrap="square" rtlCol="0" anchor="ctr"/>
          <a:lstStyle/>
          <a:p>
            <a:pPr marL="0" indent="0">
              <a:buNone/>
            </a:pPr>
            <a:r>
              <a:rPr lang="en-US" sz="2000" b="1" dirty="0">
                <a:solidFill>
                  <a:srgbClr val="0B3C6D"/>
                </a:solidFill>
                <a:latin typeface="Calibri" pitchFamily="34" charset="0"/>
                <a:ea typeface="Calibri" pitchFamily="34" charset="-122"/>
                <a:cs typeface="Calibri" pitchFamily="34" charset="-120"/>
              </a:rPr>
              <a:t>WHY</a:t>
            </a:r>
            <a:endParaRPr lang="en-US" sz="2000" dirty="0"/>
          </a:p>
        </p:txBody>
      </p:sp>
      <p:sp>
        <p:nvSpPr>
          <p:cNvPr id="7" name="Text 5"/>
          <p:cNvSpPr/>
          <p:nvPr/>
        </p:nvSpPr>
        <p:spPr>
          <a:xfrm>
            <a:off x="868680" y="2423160"/>
            <a:ext cx="3017520" cy="3566160"/>
          </a:xfrm>
          <a:prstGeom prst="rect">
            <a:avLst/>
          </a:prstGeom>
          <a:noFill/>
          <a:ln/>
        </p:spPr>
        <p:txBody>
          <a:bodyPr wrap="square" rtlCol="0" anchor="t"/>
          <a:lstStyle/>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Eliminates manual configuration errors</a:t>
            </a:r>
            <a:endParaRPr lang="en-US" sz="1500" dirty="0"/>
          </a:p>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Saves time by automating repetitive tasks</a:t>
            </a:r>
            <a:endParaRPr lang="en-US" sz="1500" dirty="0"/>
          </a:p>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Ensures consistency across many servers</a:t>
            </a:r>
            <a:endParaRPr lang="en-US" sz="1500" dirty="0"/>
          </a:p>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Makes software deployment faster &amp; reliable</a:t>
            </a:r>
            <a:endParaRPr lang="en-US" sz="1500" dirty="0"/>
          </a:p>
        </p:txBody>
      </p:sp>
      <p:sp>
        <p:nvSpPr>
          <p:cNvPr id="8" name="Shape 6"/>
          <p:cNvSpPr/>
          <p:nvPr/>
        </p:nvSpPr>
        <p:spPr>
          <a:xfrm>
            <a:off x="4297680" y="1554480"/>
            <a:ext cx="3566160" cy="4572000"/>
          </a:xfrm>
          <a:prstGeom prst="roundRect">
            <a:avLst>
              <a:gd name="adj" fmla="val 3077"/>
            </a:avLst>
          </a:prstGeom>
          <a:solidFill>
            <a:srgbClr val="D6E9FA"/>
          </a:solidFill>
          <a:ln/>
          <a:effectLst>
            <a:outerShdw blurRad="76200" dist="25400" dir="5400000" algn="bl" rotWithShape="0">
              <a:srgbClr val="3A5A80">
                <a:alpha val="18000"/>
              </a:srgbClr>
            </a:outerShdw>
          </a:effectLst>
        </p:spPr>
      </p:sp>
      <p:sp>
        <p:nvSpPr>
          <p:cNvPr id="9" name="Shape 7"/>
          <p:cNvSpPr/>
          <p:nvPr/>
        </p:nvSpPr>
        <p:spPr>
          <a:xfrm>
            <a:off x="4572000" y="1783080"/>
            <a:ext cx="502920" cy="502920"/>
          </a:xfrm>
          <a:prstGeom prst="ellipse">
            <a:avLst/>
          </a:prstGeom>
          <a:solidFill>
            <a:srgbClr val="0B3C6D"/>
          </a:solidFill>
          <a:ln/>
        </p:spPr>
      </p:sp>
      <p:sp>
        <p:nvSpPr>
          <p:cNvPr id="10" name="Text 8"/>
          <p:cNvSpPr/>
          <p:nvPr/>
        </p:nvSpPr>
        <p:spPr>
          <a:xfrm>
            <a:off x="4572000" y="178308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a:t>
            </a:r>
            <a:endParaRPr lang="en-US" sz="1500" dirty="0"/>
          </a:p>
        </p:txBody>
      </p:sp>
      <p:sp>
        <p:nvSpPr>
          <p:cNvPr id="11" name="Text 9"/>
          <p:cNvSpPr/>
          <p:nvPr/>
        </p:nvSpPr>
        <p:spPr>
          <a:xfrm>
            <a:off x="5212080" y="1783080"/>
            <a:ext cx="2468880" cy="502920"/>
          </a:xfrm>
          <a:prstGeom prst="rect">
            <a:avLst/>
          </a:prstGeom>
          <a:noFill/>
          <a:ln/>
        </p:spPr>
        <p:txBody>
          <a:bodyPr wrap="square" rtlCol="0" anchor="ctr"/>
          <a:lstStyle/>
          <a:p>
            <a:pPr marL="0" indent="0">
              <a:buNone/>
            </a:pPr>
            <a:r>
              <a:rPr lang="en-US" sz="2000" b="1" dirty="0">
                <a:solidFill>
                  <a:srgbClr val="0B3C6D"/>
                </a:solidFill>
                <a:latin typeface="Calibri" pitchFamily="34" charset="0"/>
                <a:ea typeface="Calibri" pitchFamily="34" charset="-122"/>
                <a:cs typeface="Calibri" pitchFamily="34" charset="-120"/>
              </a:rPr>
              <a:t>WHEN</a:t>
            </a:r>
            <a:endParaRPr lang="en-US" sz="2000" dirty="0"/>
          </a:p>
        </p:txBody>
      </p:sp>
      <p:sp>
        <p:nvSpPr>
          <p:cNvPr id="12" name="Text 10"/>
          <p:cNvSpPr/>
          <p:nvPr/>
        </p:nvSpPr>
        <p:spPr>
          <a:xfrm>
            <a:off x="4617720" y="2468880"/>
            <a:ext cx="3017520" cy="1280160"/>
          </a:xfrm>
          <a:prstGeom prst="rect">
            <a:avLst/>
          </a:prstGeom>
          <a:noFill/>
          <a:ln/>
        </p:spPr>
        <p:txBody>
          <a:bodyPr wrap="square" rtlCol="0" anchor="t"/>
          <a:lstStyle/>
          <a:p>
            <a:pPr marL="0" indent="0">
              <a:lnSpc>
                <a:spcPct val="120000"/>
              </a:lnSpc>
              <a:buNone/>
            </a:pPr>
            <a:r>
              <a:rPr lang="en-US" sz="1600" dirty="0">
                <a:solidFill>
                  <a:srgbClr val="13263C"/>
                </a:solidFill>
                <a:latin typeface="Calibri" pitchFamily="34" charset="0"/>
                <a:ea typeface="Calibri" pitchFamily="34" charset="-122"/>
                <a:cs typeface="Calibri" pitchFamily="34" charset="-120"/>
              </a:rPr>
              <a:t>Whenever an organization manages multiple servers, or frequently deploys applications and updates.</a:t>
            </a:r>
            <a:endParaRPr lang="en-US" sz="1600" dirty="0"/>
          </a:p>
        </p:txBody>
      </p:sp>
      <p:sp>
        <p:nvSpPr>
          <p:cNvPr id="13" name="Text 11"/>
          <p:cNvSpPr/>
          <p:nvPr/>
        </p:nvSpPr>
        <p:spPr>
          <a:xfrm>
            <a:off x="4617720" y="3794760"/>
            <a:ext cx="3017520" cy="2103120"/>
          </a:xfrm>
          <a:prstGeom prst="rect">
            <a:avLst/>
          </a:prstGeom>
          <a:noFill/>
          <a:ln/>
        </p:spPr>
        <p:txBody>
          <a:bodyPr wrap="square" rtlCol="0" anchor="t"/>
          <a:lstStyle/>
          <a:p>
            <a:pPr marL="0" indent="0">
              <a:lnSpc>
                <a:spcPct val="120000"/>
              </a:lnSpc>
              <a:buNone/>
            </a:pPr>
            <a:r>
              <a:rPr lang="en-US" sz="1600" i="1" dirty="0">
                <a:solidFill>
                  <a:srgbClr val="5B6B7C"/>
                </a:solidFill>
                <a:latin typeface="Calibri" pitchFamily="34" charset="0"/>
                <a:ea typeface="Calibri" pitchFamily="34" charset="-122"/>
                <a:cs typeface="Calibri" pitchFamily="34" charset="-120"/>
              </a:rPr>
              <a:t>Examples: onboarding new servers, rolling out patches, scaling infrastructure, enforcing compliance rules.</a:t>
            </a:r>
            <a:endParaRPr lang="en-US" sz="1600" dirty="0"/>
          </a:p>
        </p:txBody>
      </p:sp>
      <p:sp>
        <p:nvSpPr>
          <p:cNvPr id="14" name="Shape 12"/>
          <p:cNvSpPr/>
          <p:nvPr/>
        </p:nvSpPr>
        <p:spPr>
          <a:xfrm>
            <a:off x="8046720" y="1554480"/>
            <a:ext cx="3593592" cy="4572000"/>
          </a:xfrm>
          <a:prstGeom prst="roundRect">
            <a:avLst>
              <a:gd name="adj" fmla="val 3053"/>
            </a:avLst>
          </a:prstGeom>
          <a:solidFill>
            <a:srgbClr val="EAF3FC"/>
          </a:solidFill>
          <a:ln/>
          <a:effectLst>
            <a:outerShdw blurRad="76200" dist="25400" dir="5400000" algn="bl" rotWithShape="0">
              <a:srgbClr val="3A5A80">
                <a:alpha val="18000"/>
              </a:srgbClr>
            </a:outerShdw>
          </a:effectLst>
        </p:spPr>
      </p:sp>
      <p:sp>
        <p:nvSpPr>
          <p:cNvPr id="15" name="Shape 13"/>
          <p:cNvSpPr/>
          <p:nvPr/>
        </p:nvSpPr>
        <p:spPr>
          <a:xfrm>
            <a:off x="8321040" y="1783080"/>
            <a:ext cx="502920" cy="502920"/>
          </a:xfrm>
          <a:prstGeom prst="ellipse">
            <a:avLst/>
          </a:prstGeom>
          <a:solidFill>
            <a:srgbClr val="2E86DE"/>
          </a:solidFill>
          <a:ln/>
        </p:spPr>
      </p:sp>
      <p:sp>
        <p:nvSpPr>
          <p:cNvPr id="16" name="Text 14"/>
          <p:cNvSpPr/>
          <p:nvPr/>
        </p:nvSpPr>
        <p:spPr>
          <a:xfrm>
            <a:off x="8321040" y="1783080"/>
            <a:ext cx="5029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7" name="Text 15"/>
          <p:cNvSpPr/>
          <p:nvPr/>
        </p:nvSpPr>
        <p:spPr>
          <a:xfrm>
            <a:off x="8961120" y="1783080"/>
            <a:ext cx="2468880" cy="502920"/>
          </a:xfrm>
          <a:prstGeom prst="rect">
            <a:avLst/>
          </a:prstGeom>
          <a:noFill/>
          <a:ln/>
        </p:spPr>
        <p:txBody>
          <a:bodyPr wrap="square" rtlCol="0" anchor="ctr"/>
          <a:lstStyle/>
          <a:p>
            <a:pPr marL="0" indent="0">
              <a:buNone/>
            </a:pPr>
            <a:r>
              <a:rPr lang="en-US" sz="2000" b="1" dirty="0">
                <a:solidFill>
                  <a:srgbClr val="0B3C6D"/>
                </a:solidFill>
                <a:latin typeface="Calibri" pitchFamily="34" charset="0"/>
                <a:ea typeface="Calibri" pitchFamily="34" charset="-122"/>
                <a:cs typeface="Calibri" pitchFamily="34" charset="-120"/>
              </a:rPr>
              <a:t>WHERE</a:t>
            </a:r>
            <a:endParaRPr lang="en-US" sz="2000" dirty="0"/>
          </a:p>
        </p:txBody>
      </p:sp>
      <p:sp>
        <p:nvSpPr>
          <p:cNvPr id="18" name="Text 16"/>
          <p:cNvSpPr/>
          <p:nvPr/>
        </p:nvSpPr>
        <p:spPr>
          <a:xfrm>
            <a:off x="8366760" y="2423160"/>
            <a:ext cx="3017520" cy="3566160"/>
          </a:xfrm>
          <a:prstGeom prst="rect">
            <a:avLst/>
          </a:prstGeom>
          <a:noFill/>
          <a:ln/>
        </p:spPr>
        <p:txBody>
          <a:bodyPr wrap="square" rtlCol="0" anchor="t"/>
          <a:lstStyle/>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Data centers</a:t>
            </a:r>
            <a:endParaRPr lang="en-US" sz="1500" dirty="0"/>
          </a:p>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Cloud platforms (AWS, Azure, GCP)</a:t>
            </a:r>
            <a:endParaRPr lang="en-US" sz="1500" dirty="0"/>
          </a:p>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DevOps environments</a:t>
            </a:r>
            <a:endParaRPr lang="en-US" sz="1500" dirty="0"/>
          </a:p>
          <a:p>
            <a:pPr marL="342900" indent="-342900" algn="l">
              <a:lnSpc>
                <a:spcPct val="108000"/>
              </a:lnSpc>
              <a:spcAft>
                <a:spcPts val="1400"/>
              </a:spcAft>
              <a:buSzPct val="100000"/>
              <a:buChar char="•"/>
            </a:pPr>
            <a:r>
              <a:rPr lang="en-US" sz="1500" dirty="0">
                <a:solidFill>
                  <a:srgbClr val="13263C"/>
                </a:solidFill>
                <a:latin typeface="Calibri" pitchFamily="34" charset="0"/>
                <a:ea typeface="Calibri" pitchFamily="34" charset="-122"/>
                <a:cs typeface="Calibri" pitchFamily="34" charset="-120"/>
              </a:rPr>
              <a:t>Large organizations with hundreds of servers</a:t>
            </a:r>
            <a:endParaRPr lang="en-US" sz="1500" dirty="0"/>
          </a:p>
        </p:txBody>
      </p:sp>
      <p:sp>
        <p:nvSpPr>
          <p:cNvPr id="19" name="Text 17"/>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Configuration Management</a:t>
            </a:r>
            <a:endParaRPr lang="en-US" sz="1100" dirty="0"/>
          </a:p>
        </p:txBody>
      </p:sp>
      <p:sp>
        <p:nvSpPr>
          <p:cNvPr id="20" name="Text 18"/>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How Configuration Management Works</a:t>
            </a:r>
            <a:endParaRPr lang="en-US" sz="3400" dirty="0"/>
          </a:p>
        </p:txBody>
      </p:sp>
      <p:sp>
        <p:nvSpPr>
          <p:cNvPr id="3" name="Text 1"/>
          <p:cNvSpPr/>
          <p:nvPr/>
        </p:nvSpPr>
        <p:spPr>
          <a:xfrm>
            <a:off x="548640" y="1417320"/>
            <a:ext cx="11064240" cy="502920"/>
          </a:xfrm>
          <a:prstGeom prst="rect">
            <a:avLst/>
          </a:prstGeom>
          <a:noFill/>
          <a:ln/>
        </p:spPr>
        <p:txBody>
          <a:bodyPr wrap="square" rtlCol="0" anchor="ctr"/>
          <a:lstStyle/>
          <a:p>
            <a:pPr marL="0" indent="0">
              <a:buNone/>
            </a:pPr>
            <a:r>
              <a:rPr lang="en-US" sz="1700" dirty="0">
                <a:solidFill>
                  <a:srgbClr val="13263C"/>
                </a:solidFill>
                <a:latin typeface="Calibri" pitchFamily="34" charset="0"/>
                <a:ea typeface="Calibri" pitchFamily="34" charset="-122"/>
                <a:cs typeface="Calibri" pitchFamily="34" charset="-120"/>
              </a:rPr>
              <a:t>A configuration management tool stores the desired configuration in one place, then automatically applies it to every target server.</a:t>
            </a:r>
            <a:endParaRPr lang="en-US" sz="1700" dirty="0"/>
          </a:p>
        </p:txBody>
      </p:sp>
      <p:sp>
        <p:nvSpPr>
          <p:cNvPr id="4" name="Shape 2"/>
          <p:cNvSpPr/>
          <p:nvPr/>
        </p:nvSpPr>
        <p:spPr>
          <a:xfrm>
            <a:off x="548640" y="2743200"/>
            <a:ext cx="2331720" cy="1005840"/>
          </a:xfrm>
          <a:prstGeom prst="roundRect">
            <a:avLst>
              <a:gd name="adj" fmla="val 9091"/>
            </a:avLst>
          </a:prstGeom>
          <a:solidFill>
            <a:srgbClr val="0B3C6D"/>
          </a:solidFill>
          <a:ln/>
          <a:effectLst>
            <a:outerShdw blurRad="63500" dist="25400" dir="5400000" algn="bl" rotWithShape="0">
              <a:srgbClr val="3A5A80">
                <a:alpha val="18000"/>
              </a:srgbClr>
            </a:outerShdw>
          </a:effectLst>
        </p:spPr>
      </p:sp>
      <p:sp>
        <p:nvSpPr>
          <p:cNvPr id="5" name="Text 3"/>
          <p:cNvSpPr/>
          <p:nvPr/>
        </p:nvSpPr>
        <p:spPr>
          <a:xfrm>
            <a:off x="621792" y="2743200"/>
            <a:ext cx="2185416" cy="100584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1. Admin defines</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Desired Configuration</a:t>
            </a:r>
            <a:endParaRPr lang="en-US" sz="1400" dirty="0"/>
          </a:p>
        </p:txBody>
      </p:sp>
      <p:sp>
        <p:nvSpPr>
          <p:cNvPr id="6" name="Shape 4"/>
          <p:cNvSpPr/>
          <p:nvPr/>
        </p:nvSpPr>
        <p:spPr>
          <a:xfrm>
            <a:off x="2880360" y="3246120"/>
            <a:ext cx="502920" cy="0"/>
          </a:xfrm>
          <a:prstGeom prst="line">
            <a:avLst/>
          </a:prstGeom>
          <a:noFill/>
          <a:ln w="31750">
            <a:solidFill>
              <a:srgbClr val="2E86DE"/>
            </a:solidFill>
            <a:prstDash val="solid"/>
            <a:tailEnd type="triangle"/>
          </a:ln>
        </p:spPr>
      </p:sp>
      <p:sp>
        <p:nvSpPr>
          <p:cNvPr id="7" name="Shape 5"/>
          <p:cNvSpPr/>
          <p:nvPr/>
        </p:nvSpPr>
        <p:spPr>
          <a:xfrm>
            <a:off x="3383280" y="2743200"/>
            <a:ext cx="2331720" cy="1005840"/>
          </a:xfrm>
          <a:prstGeom prst="roundRect">
            <a:avLst>
              <a:gd name="adj" fmla="val 9091"/>
            </a:avLst>
          </a:prstGeom>
          <a:solidFill>
            <a:srgbClr val="2E86DE"/>
          </a:solidFill>
          <a:ln/>
          <a:effectLst>
            <a:outerShdw blurRad="63500" dist="25400" dir="5400000" algn="bl" rotWithShape="0">
              <a:srgbClr val="3A5A80">
                <a:alpha val="18000"/>
              </a:srgbClr>
            </a:outerShdw>
          </a:effectLst>
        </p:spPr>
      </p:sp>
      <p:sp>
        <p:nvSpPr>
          <p:cNvPr id="8" name="Text 6"/>
          <p:cNvSpPr/>
          <p:nvPr/>
        </p:nvSpPr>
        <p:spPr>
          <a:xfrm>
            <a:off x="3456432" y="2743200"/>
            <a:ext cx="2185416" cy="100584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2. Configuration stored</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in CM Tool / Repository</a:t>
            </a:r>
            <a:endParaRPr lang="en-US" sz="1400" dirty="0"/>
          </a:p>
        </p:txBody>
      </p:sp>
      <p:sp>
        <p:nvSpPr>
          <p:cNvPr id="9" name="Shape 7"/>
          <p:cNvSpPr/>
          <p:nvPr/>
        </p:nvSpPr>
        <p:spPr>
          <a:xfrm>
            <a:off x="5715000" y="3246120"/>
            <a:ext cx="502920" cy="0"/>
          </a:xfrm>
          <a:prstGeom prst="line">
            <a:avLst/>
          </a:prstGeom>
          <a:noFill/>
          <a:ln w="31750">
            <a:solidFill>
              <a:srgbClr val="2E86DE"/>
            </a:solidFill>
            <a:prstDash val="solid"/>
            <a:tailEnd type="triangle"/>
          </a:ln>
        </p:spPr>
      </p:sp>
      <p:sp>
        <p:nvSpPr>
          <p:cNvPr id="10" name="Shape 8"/>
          <p:cNvSpPr/>
          <p:nvPr/>
        </p:nvSpPr>
        <p:spPr>
          <a:xfrm>
            <a:off x="6217920" y="2743200"/>
            <a:ext cx="2331720" cy="1005840"/>
          </a:xfrm>
          <a:prstGeom prst="roundRect">
            <a:avLst>
              <a:gd name="adj" fmla="val 9091"/>
            </a:avLst>
          </a:prstGeom>
          <a:solidFill>
            <a:srgbClr val="0B3C6D"/>
          </a:solidFill>
          <a:ln/>
          <a:effectLst>
            <a:outerShdw blurRad="63500" dist="25400" dir="5400000" algn="bl" rotWithShape="0">
              <a:srgbClr val="3A5A80">
                <a:alpha val="18000"/>
              </a:srgbClr>
            </a:outerShdw>
          </a:effectLst>
        </p:spPr>
      </p:sp>
      <p:sp>
        <p:nvSpPr>
          <p:cNvPr id="11" name="Text 9"/>
          <p:cNvSpPr/>
          <p:nvPr/>
        </p:nvSpPr>
        <p:spPr>
          <a:xfrm>
            <a:off x="6291072" y="2743200"/>
            <a:ext cx="2185416" cy="100584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3. CM Tool checks</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target servers</a:t>
            </a:r>
            <a:endParaRPr lang="en-US" sz="1400" dirty="0"/>
          </a:p>
        </p:txBody>
      </p:sp>
      <p:sp>
        <p:nvSpPr>
          <p:cNvPr id="12" name="Shape 10"/>
          <p:cNvSpPr/>
          <p:nvPr/>
        </p:nvSpPr>
        <p:spPr>
          <a:xfrm>
            <a:off x="8549640" y="3246120"/>
            <a:ext cx="502920" cy="0"/>
          </a:xfrm>
          <a:prstGeom prst="line">
            <a:avLst/>
          </a:prstGeom>
          <a:noFill/>
          <a:ln w="31750">
            <a:solidFill>
              <a:srgbClr val="2E86DE"/>
            </a:solidFill>
            <a:prstDash val="solid"/>
            <a:tailEnd type="triangle"/>
          </a:ln>
        </p:spPr>
      </p:sp>
      <p:sp>
        <p:nvSpPr>
          <p:cNvPr id="13" name="Shape 11"/>
          <p:cNvSpPr/>
          <p:nvPr/>
        </p:nvSpPr>
        <p:spPr>
          <a:xfrm>
            <a:off x="9052560" y="2743200"/>
            <a:ext cx="2331720" cy="1005840"/>
          </a:xfrm>
          <a:prstGeom prst="roundRect">
            <a:avLst>
              <a:gd name="adj" fmla="val 9091"/>
            </a:avLst>
          </a:prstGeom>
          <a:solidFill>
            <a:srgbClr val="2E86DE"/>
          </a:solidFill>
          <a:ln/>
          <a:effectLst>
            <a:outerShdw blurRad="63500" dist="25400" dir="5400000" algn="bl" rotWithShape="0">
              <a:srgbClr val="3A5A80">
                <a:alpha val="18000"/>
              </a:srgbClr>
            </a:outerShdw>
          </a:effectLst>
        </p:spPr>
      </p:sp>
      <p:sp>
        <p:nvSpPr>
          <p:cNvPr id="14" name="Text 12"/>
          <p:cNvSpPr/>
          <p:nvPr/>
        </p:nvSpPr>
        <p:spPr>
          <a:xfrm>
            <a:off x="9125712" y="2743200"/>
            <a:ext cx="2185416" cy="100584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4. Applies settings</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automatically</a:t>
            </a:r>
            <a:endParaRPr lang="en-US" sz="1400" dirty="0"/>
          </a:p>
        </p:txBody>
      </p:sp>
      <p:sp>
        <p:nvSpPr>
          <p:cNvPr id="15" name="Shape 13"/>
          <p:cNvSpPr/>
          <p:nvPr/>
        </p:nvSpPr>
        <p:spPr>
          <a:xfrm>
            <a:off x="10359521" y="3749041"/>
            <a:ext cx="0" cy="436704"/>
          </a:xfrm>
          <a:prstGeom prst="line">
            <a:avLst/>
          </a:prstGeom>
          <a:noFill/>
          <a:ln w="31750">
            <a:solidFill>
              <a:srgbClr val="2E86DE"/>
            </a:solidFill>
            <a:prstDash val="solid"/>
            <a:tailEnd type="triangle"/>
          </a:ln>
        </p:spPr>
      </p:sp>
      <p:sp>
        <p:nvSpPr>
          <p:cNvPr id="16" name="Shape 14"/>
          <p:cNvSpPr/>
          <p:nvPr/>
        </p:nvSpPr>
        <p:spPr>
          <a:xfrm>
            <a:off x="9332661" y="4185745"/>
            <a:ext cx="2331720" cy="1005840"/>
          </a:xfrm>
          <a:prstGeom prst="roundRect">
            <a:avLst>
              <a:gd name="adj" fmla="val 9091"/>
            </a:avLst>
          </a:prstGeom>
          <a:solidFill>
            <a:srgbClr val="1E8E5A"/>
          </a:solidFill>
          <a:ln/>
          <a:effectLst>
            <a:outerShdw blurRad="63500" dist="25400" dir="5400000" algn="bl" rotWithShape="0">
              <a:srgbClr val="3A5A80">
                <a:alpha val="18000"/>
              </a:srgbClr>
            </a:outerShdw>
          </a:effectLst>
        </p:spPr>
      </p:sp>
      <p:sp>
        <p:nvSpPr>
          <p:cNvPr id="17" name="Text 15"/>
          <p:cNvSpPr/>
          <p:nvPr/>
        </p:nvSpPr>
        <p:spPr>
          <a:xfrm>
            <a:off x="9405813" y="4185744"/>
            <a:ext cx="2185416" cy="100584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5. All servers reach</a:t>
            </a:r>
            <a:endParaRPr lang="en-US" sz="1400" dirty="0"/>
          </a:p>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Desired State</a:t>
            </a:r>
            <a:endParaRPr lang="en-US" sz="1400" dirty="0"/>
          </a:p>
        </p:txBody>
      </p:sp>
      <p:sp>
        <p:nvSpPr>
          <p:cNvPr id="18" name="Shape 16"/>
          <p:cNvSpPr/>
          <p:nvPr/>
        </p:nvSpPr>
        <p:spPr>
          <a:xfrm>
            <a:off x="409903" y="5513831"/>
            <a:ext cx="11091672" cy="1115567"/>
          </a:xfrm>
          <a:prstGeom prst="roundRect">
            <a:avLst>
              <a:gd name="adj" fmla="val 6316"/>
            </a:avLst>
          </a:prstGeom>
          <a:solidFill>
            <a:srgbClr val="EAF3FC"/>
          </a:solidFill>
          <a:ln/>
          <a:effectLst>
            <a:outerShdw blurRad="76200" dist="25400" dir="5400000" algn="bl" rotWithShape="0">
              <a:srgbClr val="3A5A80">
                <a:alpha val="18000"/>
              </a:srgbClr>
            </a:outerShdw>
          </a:effectLst>
        </p:spPr>
      </p:sp>
      <p:sp>
        <p:nvSpPr>
          <p:cNvPr id="19" name="Text 17"/>
          <p:cNvSpPr/>
          <p:nvPr/>
        </p:nvSpPr>
        <p:spPr>
          <a:xfrm>
            <a:off x="621792" y="5074917"/>
            <a:ext cx="3657600" cy="320040"/>
          </a:xfrm>
          <a:prstGeom prst="rect">
            <a:avLst/>
          </a:prstGeom>
          <a:noFill/>
          <a:ln/>
        </p:spPr>
        <p:txBody>
          <a:bodyPr wrap="square" rtlCol="0" anchor="ctr"/>
          <a:lstStyle/>
          <a:p>
            <a:pPr marL="0" indent="0">
              <a:buNone/>
            </a:pPr>
            <a:r>
              <a:rPr lang="en-US" sz="1600" b="1" dirty="0">
                <a:solidFill>
                  <a:srgbClr val="0B3C6D"/>
                </a:solidFill>
                <a:latin typeface="Calibri" pitchFamily="34" charset="0"/>
                <a:ea typeface="Calibri" pitchFamily="34" charset="-122"/>
                <a:cs typeface="Calibri" pitchFamily="34" charset="-120"/>
              </a:rPr>
              <a:t>Key Idea</a:t>
            </a:r>
            <a:endParaRPr lang="en-US" sz="1600" dirty="0"/>
          </a:p>
        </p:txBody>
      </p:sp>
      <p:sp>
        <p:nvSpPr>
          <p:cNvPr id="20" name="Text 18"/>
          <p:cNvSpPr/>
          <p:nvPr/>
        </p:nvSpPr>
        <p:spPr>
          <a:xfrm>
            <a:off x="868680" y="5442887"/>
            <a:ext cx="10424160" cy="1097280"/>
          </a:xfrm>
          <a:prstGeom prst="rect">
            <a:avLst/>
          </a:prstGeom>
          <a:noFill/>
          <a:ln/>
        </p:spPr>
        <p:txBody>
          <a:bodyPr wrap="square" rtlCol="0" anchor="ctr"/>
          <a:lstStyle/>
          <a:p>
            <a:pPr marL="0" indent="0">
              <a:lnSpc>
                <a:spcPct val="120000"/>
              </a:lnSpc>
              <a:buNone/>
            </a:pPr>
            <a:r>
              <a:rPr lang="en-US" sz="1600" dirty="0">
                <a:solidFill>
                  <a:srgbClr val="13263C"/>
                </a:solidFill>
                <a:latin typeface="Calibri" pitchFamily="34" charset="0"/>
                <a:ea typeface="Calibri" pitchFamily="34" charset="-122"/>
                <a:cs typeface="Calibri" pitchFamily="34" charset="-120"/>
              </a:rPr>
              <a:t>The administrator never touches each server individually. The CM tool acts as a single source of truth — any server that drifts from the desired state is automatically corrected on the next check or update.</a:t>
            </a:r>
            <a:endParaRPr lang="en-US" sz="1600" dirty="0"/>
          </a:p>
        </p:txBody>
      </p:sp>
      <p:sp>
        <p:nvSpPr>
          <p:cNvPr id="21" name="Text 19"/>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Configuration Management</a:t>
            </a:r>
            <a:endParaRPr lang="en-US" sz="11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Real-Time Example: 100 Web Servers</a:t>
            </a:r>
            <a:endParaRPr lang="en-US" sz="3400" dirty="0"/>
          </a:p>
        </p:txBody>
      </p:sp>
      <p:sp>
        <p:nvSpPr>
          <p:cNvPr id="3" name="Text 1"/>
          <p:cNvSpPr/>
          <p:nvPr/>
        </p:nvSpPr>
        <p:spPr>
          <a:xfrm>
            <a:off x="548640" y="1417320"/>
            <a:ext cx="11064240" cy="548640"/>
          </a:xfrm>
          <a:prstGeom prst="rect">
            <a:avLst/>
          </a:prstGeom>
          <a:noFill/>
          <a:ln/>
        </p:spPr>
        <p:txBody>
          <a:bodyPr wrap="square" rtlCol="0" anchor="ctr"/>
          <a:lstStyle/>
          <a:p>
            <a:pPr marL="0" indent="0">
              <a:buNone/>
            </a:pPr>
            <a:r>
              <a:rPr lang="en-US" sz="1700" dirty="0">
                <a:solidFill>
                  <a:srgbClr val="13263C"/>
                </a:solidFill>
                <a:latin typeface="Calibri" pitchFamily="34" charset="0"/>
                <a:ea typeface="Calibri" pitchFamily="34" charset="-122"/>
                <a:cs typeface="Calibri" pitchFamily="34" charset="-120"/>
              </a:rPr>
              <a:t>A company needs Apache installed and configured identically on 100 web servers. Let's compare the manual way with the Configuration Management way.</a:t>
            </a:r>
            <a:endParaRPr lang="en-US" sz="1700" dirty="0"/>
          </a:p>
        </p:txBody>
      </p:sp>
      <p:sp>
        <p:nvSpPr>
          <p:cNvPr id="4" name="Shape 2"/>
          <p:cNvSpPr/>
          <p:nvPr/>
        </p:nvSpPr>
        <p:spPr>
          <a:xfrm>
            <a:off x="548640" y="2148840"/>
            <a:ext cx="5394960" cy="3931920"/>
          </a:xfrm>
          <a:prstGeom prst="roundRect">
            <a:avLst>
              <a:gd name="adj" fmla="val 2791"/>
            </a:avLst>
          </a:prstGeom>
          <a:solidFill>
            <a:srgbClr val="FBEAEA"/>
          </a:solidFill>
          <a:ln/>
          <a:effectLst>
            <a:outerShdw blurRad="76200" dist="25400" dir="5400000" algn="bl" rotWithShape="0">
              <a:srgbClr val="3A5A80">
                <a:alpha val="18000"/>
              </a:srgbClr>
            </a:outerShdw>
          </a:effectLst>
        </p:spPr>
      </p:sp>
      <p:sp>
        <p:nvSpPr>
          <p:cNvPr id="5" name="Text 3"/>
          <p:cNvSpPr/>
          <p:nvPr/>
        </p:nvSpPr>
        <p:spPr>
          <a:xfrm>
            <a:off x="822960" y="2331720"/>
            <a:ext cx="4846320" cy="457200"/>
          </a:xfrm>
          <a:prstGeom prst="rect">
            <a:avLst/>
          </a:prstGeom>
          <a:noFill/>
          <a:ln/>
        </p:spPr>
        <p:txBody>
          <a:bodyPr wrap="square" rtlCol="0" anchor="ctr"/>
          <a:lstStyle/>
          <a:p>
            <a:pPr marL="0" indent="0">
              <a:buNone/>
            </a:pPr>
            <a:r>
              <a:rPr lang="en-US" sz="1700" b="1" dirty="0">
                <a:solidFill>
                  <a:srgbClr val="A33636"/>
                </a:solidFill>
                <a:latin typeface="Calibri" pitchFamily="34" charset="0"/>
                <a:ea typeface="Calibri" pitchFamily="34" charset="-122"/>
                <a:cs typeface="Calibri" pitchFamily="34" charset="-120"/>
              </a:rPr>
              <a:t>Without Configuration Management</a:t>
            </a:r>
            <a:endParaRPr lang="en-US" sz="1700" dirty="0"/>
          </a:p>
        </p:txBody>
      </p:sp>
      <p:sp>
        <p:nvSpPr>
          <p:cNvPr id="6" name="Text 4"/>
          <p:cNvSpPr/>
          <p:nvPr/>
        </p:nvSpPr>
        <p:spPr>
          <a:xfrm>
            <a:off x="868680" y="2834640"/>
            <a:ext cx="4846320" cy="3108960"/>
          </a:xfrm>
          <a:prstGeom prst="rect">
            <a:avLst/>
          </a:prstGeom>
          <a:noFill/>
          <a:ln/>
        </p:spPr>
        <p:txBody>
          <a:bodyPr wrap="square" rtlCol="0" anchor="t"/>
          <a:lstStyle/>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Admin logs into each server one by one</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Manually installs &amp; configures Apache 100 times</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High chance of typos and missed steps</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Any settings mismatch causes downtime</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Takes hours or even days to finish</a:t>
            </a:r>
            <a:endParaRPr lang="en-US" sz="1500" dirty="0"/>
          </a:p>
        </p:txBody>
      </p:sp>
      <p:sp>
        <p:nvSpPr>
          <p:cNvPr id="7" name="Shape 5"/>
          <p:cNvSpPr/>
          <p:nvPr/>
        </p:nvSpPr>
        <p:spPr>
          <a:xfrm>
            <a:off x="6245352" y="2148840"/>
            <a:ext cx="5394960" cy="3931920"/>
          </a:xfrm>
          <a:prstGeom prst="roundRect">
            <a:avLst>
              <a:gd name="adj" fmla="val 2791"/>
            </a:avLst>
          </a:prstGeom>
          <a:solidFill>
            <a:srgbClr val="E8F5EC"/>
          </a:solidFill>
          <a:ln/>
          <a:effectLst>
            <a:outerShdw blurRad="76200" dist="25400" dir="5400000" algn="bl" rotWithShape="0">
              <a:srgbClr val="3A5A80">
                <a:alpha val="18000"/>
              </a:srgbClr>
            </a:outerShdw>
          </a:effectLst>
        </p:spPr>
      </p:sp>
      <p:sp>
        <p:nvSpPr>
          <p:cNvPr id="8" name="Text 6"/>
          <p:cNvSpPr/>
          <p:nvPr/>
        </p:nvSpPr>
        <p:spPr>
          <a:xfrm>
            <a:off x="6519672" y="2331720"/>
            <a:ext cx="4846320" cy="457200"/>
          </a:xfrm>
          <a:prstGeom prst="rect">
            <a:avLst/>
          </a:prstGeom>
          <a:noFill/>
          <a:ln/>
        </p:spPr>
        <p:txBody>
          <a:bodyPr wrap="square" rtlCol="0" anchor="ctr"/>
          <a:lstStyle/>
          <a:p>
            <a:pPr marL="0" indent="0">
              <a:buNone/>
            </a:pPr>
            <a:r>
              <a:rPr lang="en-US" sz="1700" b="1" dirty="0">
                <a:solidFill>
                  <a:srgbClr val="1E8E5A"/>
                </a:solidFill>
                <a:latin typeface="Calibri" pitchFamily="34" charset="0"/>
                <a:ea typeface="Calibri" pitchFamily="34" charset="-122"/>
                <a:cs typeface="Calibri" pitchFamily="34" charset="-120"/>
              </a:rPr>
              <a:t>With Configuration Management</a:t>
            </a:r>
            <a:endParaRPr lang="en-US" sz="1700" dirty="0"/>
          </a:p>
        </p:txBody>
      </p:sp>
      <p:sp>
        <p:nvSpPr>
          <p:cNvPr id="9" name="Text 7"/>
          <p:cNvSpPr/>
          <p:nvPr/>
        </p:nvSpPr>
        <p:spPr>
          <a:xfrm>
            <a:off x="6565392" y="2834640"/>
            <a:ext cx="4846320" cy="3108960"/>
          </a:xfrm>
          <a:prstGeom prst="rect">
            <a:avLst/>
          </a:prstGeom>
          <a:noFill/>
          <a:ln/>
        </p:spPr>
        <p:txBody>
          <a:bodyPr wrap="square" rtlCol="0" anchor="t"/>
          <a:lstStyle/>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Admin writes ONE configuration script</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CM tool pushes/pulls it to all 100 servers</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Every server gets identical, error-free setup</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Consistent state guaranteed across the fleet</a:t>
            </a:r>
            <a:endParaRPr lang="en-US" sz="1500" dirty="0"/>
          </a:p>
          <a:p>
            <a:pPr marL="342900" indent="-342900" algn="l">
              <a:lnSpc>
                <a:spcPct val="108000"/>
              </a:lnSpc>
              <a:spcAft>
                <a:spcPts val="1200"/>
              </a:spcAft>
              <a:buSzPct val="100000"/>
              <a:buChar char="•"/>
            </a:pPr>
            <a:r>
              <a:rPr lang="en-US" sz="1500" dirty="0">
                <a:solidFill>
                  <a:srgbClr val="13263C"/>
                </a:solidFill>
                <a:latin typeface="Calibri" pitchFamily="34" charset="0"/>
                <a:ea typeface="Calibri" pitchFamily="34" charset="-122"/>
                <a:cs typeface="Calibri" pitchFamily="34" charset="-120"/>
              </a:rPr>
              <a:t>Finishes in a few minutes, fully automated</a:t>
            </a:r>
            <a:endParaRPr lang="en-US" sz="1500" dirty="0"/>
          </a:p>
        </p:txBody>
      </p:sp>
      <p:sp>
        <p:nvSpPr>
          <p:cNvPr id="10" name="Text 8"/>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Configuration Management</a:t>
            </a:r>
            <a:endParaRPr lang="en-US" sz="1100" dirty="0"/>
          </a:p>
        </p:txBody>
      </p:sp>
      <p:sp>
        <p:nvSpPr>
          <p:cNvPr id="11" name="Text 9"/>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More Real-World Examples of CM</a:t>
            </a:r>
            <a:endParaRPr lang="en-US" sz="3400" dirty="0"/>
          </a:p>
        </p:txBody>
      </p:sp>
      <p:sp>
        <p:nvSpPr>
          <p:cNvPr id="3" name="Shape 1"/>
          <p:cNvSpPr/>
          <p:nvPr/>
        </p:nvSpPr>
        <p:spPr>
          <a:xfrm>
            <a:off x="548640" y="1600200"/>
            <a:ext cx="11091672" cy="1536192"/>
          </a:xfrm>
          <a:prstGeom prst="roundRect">
            <a:avLst>
              <a:gd name="adj" fmla="val 7143"/>
            </a:avLst>
          </a:prstGeom>
          <a:solidFill>
            <a:srgbClr val="EAF3FC"/>
          </a:solidFill>
          <a:ln/>
          <a:effectLst>
            <a:outerShdw blurRad="76200" dist="25400" dir="5400000" algn="bl" rotWithShape="0">
              <a:srgbClr val="3A5A80">
                <a:alpha val="18000"/>
              </a:srgbClr>
            </a:outerShdw>
          </a:effectLst>
        </p:spPr>
      </p:sp>
      <p:sp>
        <p:nvSpPr>
          <p:cNvPr id="4" name="Shape 2"/>
          <p:cNvSpPr/>
          <p:nvPr/>
        </p:nvSpPr>
        <p:spPr>
          <a:xfrm>
            <a:off x="822960" y="1856232"/>
            <a:ext cx="548640" cy="548640"/>
          </a:xfrm>
          <a:prstGeom prst="ellipse">
            <a:avLst/>
          </a:prstGeom>
          <a:solidFill>
            <a:srgbClr val="0B3C6D"/>
          </a:solidFill>
          <a:ln/>
        </p:spPr>
      </p:sp>
      <p:sp>
        <p:nvSpPr>
          <p:cNvPr id="5" name="Text 3"/>
          <p:cNvSpPr/>
          <p:nvPr/>
        </p:nvSpPr>
        <p:spPr>
          <a:xfrm>
            <a:off x="822960" y="1856232"/>
            <a:ext cx="54864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600200" y="1709928"/>
            <a:ext cx="9784080" cy="365760"/>
          </a:xfrm>
          <a:prstGeom prst="rect">
            <a:avLst/>
          </a:prstGeom>
          <a:noFill/>
          <a:ln/>
        </p:spPr>
        <p:txBody>
          <a:bodyPr wrap="square" rtlCol="0" anchor="ctr"/>
          <a:lstStyle/>
          <a:p>
            <a:pPr marL="0" indent="0">
              <a:buNone/>
            </a:pPr>
            <a:r>
              <a:rPr lang="en-US" sz="1700" b="1" dirty="0">
                <a:solidFill>
                  <a:srgbClr val="0B3C6D"/>
                </a:solidFill>
                <a:latin typeface="Calibri" pitchFamily="34" charset="0"/>
                <a:ea typeface="Calibri" pitchFamily="34" charset="-122"/>
                <a:cs typeface="Calibri" pitchFamily="34" charset="-120"/>
              </a:rPr>
              <a:t>Netflix — Streaming at Scale</a:t>
            </a:r>
            <a:endParaRPr lang="en-US" sz="1700" dirty="0"/>
          </a:p>
        </p:txBody>
      </p:sp>
      <p:sp>
        <p:nvSpPr>
          <p:cNvPr id="7" name="Text 5"/>
          <p:cNvSpPr/>
          <p:nvPr/>
        </p:nvSpPr>
        <p:spPr>
          <a:xfrm>
            <a:off x="1600200" y="2075688"/>
            <a:ext cx="9784080" cy="960120"/>
          </a:xfrm>
          <a:prstGeom prst="rect">
            <a:avLst/>
          </a:prstGeom>
          <a:noFill/>
          <a:ln/>
        </p:spPr>
        <p:txBody>
          <a:bodyPr wrap="square" rtlCol="0" anchor="t"/>
          <a:lstStyle/>
          <a:p>
            <a:pPr marL="0" indent="0">
              <a:lnSpc>
                <a:spcPct val="115000"/>
              </a:lnSpc>
              <a:buNone/>
            </a:pPr>
            <a:r>
              <a:rPr lang="en-US" sz="1450" dirty="0">
                <a:solidFill>
                  <a:srgbClr val="13263C"/>
                </a:solidFill>
                <a:latin typeface="Calibri" pitchFamily="34" charset="0"/>
                <a:ea typeface="Calibri" pitchFamily="34" charset="-122"/>
                <a:cs typeface="Calibri" pitchFamily="34" charset="-120"/>
              </a:rPr>
              <a:t>Netflix runs thousands of cloud servers on AWS. Configuration management tools automatically configure new servers the moment they spin up, so a sudden spike in viewers (e.g. a popular show launch) is handled by identically configured servers within minutes.</a:t>
            </a:r>
            <a:endParaRPr lang="en-US" sz="1450" dirty="0"/>
          </a:p>
        </p:txBody>
      </p:sp>
      <p:sp>
        <p:nvSpPr>
          <p:cNvPr id="8" name="Shape 6"/>
          <p:cNvSpPr/>
          <p:nvPr/>
        </p:nvSpPr>
        <p:spPr>
          <a:xfrm>
            <a:off x="548640" y="3300984"/>
            <a:ext cx="11091672" cy="1536192"/>
          </a:xfrm>
          <a:prstGeom prst="roundRect">
            <a:avLst>
              <a:gd name="adj" fmla="val 7143"/>
            </a:avLst>
          </a:prstGeom>
          <a:solidFill>
            <a:srgbClr val="D6E9FA"/>
          </a:solidFill>
          <a:ln/>
          <a:effectLst>
            <a:outerShdw blurRad="76200" dist="25400" dir="5400000" algn="bl" rotWithShape="0">
              <a:srgbClr val="3A5A80">
                <a:alpha val="18000"/>
              </a:srgbClr>
            </a:outerShdw>
          </a:effectLst>
        </p:spPr>
      </p:sp>
      <p:sp>
        <p:nvSpPr>
          <p:cNvPr id="9" name="Shape 7"/>
          <p:cNvSpPr/>
          <p:nvPr/>
        </p:nvSpPr>
        <p:spPr>
          <a:xfrm>
            <a:off x="822960" y="3557016"/>
            <a:ext cx="548640" cy="548640"/>
          </a:xfrm>
          <a:prstGeom prst="ellipse">
            <a:avLst/>
          </a:prstGeom>
          <a:solidFill>
            <a:srgbClr val="0B3C6D"/>
          </a:solidFill>
          <a:ln/>
        </p:spPr>
      </p:sp>
      <p:sp>
        <p:nvSpPr>
          <p:cNvPr id="10" name="Text 8"/>
          <p:cNvSpPr/>
          <p:nvPr/>
        </p:nvSpPr>
        <p:spPr>
          <a:xfrm>
            <a:off x="822960" y="3557016"/>
            <a:ext cx="54864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1600200" y="3410712"/>
            <a:ext cx="9784080" cy="365760"/>
          </a:xfrm>
          <a:prstGeom prst="rect">
            <a:avLst/>
          </a:prstGeom>
          <a:noFill/>
          <a:ln/>
        </p:spPr>
        <p:txBody>
          <a:bodyPr wrap="square" rtlCol="0" anchor="ctr"/>
          <a:lstStyle/>
          <a:p>
            <a:pPr marL="0" indent="0">
              <a:buNone/>
            </a:pPr>
            <a:r>
              <a:rPr lang="en-US" sz="1700" b="1" dirty="0">
                <a:solidFill>
                  <a:srgbClr val="0B3C6D"/>
                </a:solidFill>
                <a:latin typeface="Calibri" pitchFamily="34" charset="0"/>
                <a:ea typeface="Calibri" pitchFamily="34" charset="-122"/>
                <a:cs typeface="Calibri" pitchFamily="34" charset="-120"/>
              </a:rPr>
              <a:t>Banks &amp; Financial Institutions</a:t>
            </a:r>
            <a:endParaRPr lang="en-US" sz="1700" dirty="0"/>
          </a:p>
        </p:txBody>
      </p:sp>
      <p:sp>
        <p:nvSpPr>
          <p:cNvPr id="12" name="Text 10"/>
          <p:cNvSpPr/>
          <p:nvPr/>
        </p:nvSpPr>
        <p:spPr>
          <a:xfrm>
            <a:off x="1600200" y="3776472"/>
            <a:ext cx="9784080" cy="960120"/>
          </a:xfrm>
          <a:prstGeom prst="rect">
            <a:avLst/>
          </a:prstGeom>
          <a:noFill/>
          <a:ln/>
        </p:spPr>
        <p:txBody>
          <a:bodyPr wrap="square" rtlCol="0" anchor="t"/>
          <a:lstStyle/>
          <a:p>
            <a:pPr marL="0" indent="0">
              <a:lnSpc>
                <a:spcPct val="115000"/>
              </a:lnSpc>
              <a:buNone/>
            </a:pPr>
            <a:r>
              <a:rPr lang="en-US" sz="1450" dirty="0">
                <a:solidFill>
                  <a:srgbClr val="13263C"/>
                </a:solidFill>
                <a:latin typeface="Calibri" pitchFamily="34" charset="0"/>
                <a:ea typeface="Calibri" pitchFamily="34" charset="-122"/>
                <a:cs typeface="Calibri" pitchFamily="34" charset="-120"/>
              </a:rPr>
              <a:t>Banks must follow strict security and compliance rules on every server. CM tools continuously enforce these rules — if any server's settings drift out of compliance, the tool automatically resets it, preventing security gaps and audit failures.</a:t>
            </a:r>
            <a:endParaRPr lang="en-US" sz="1450" dirty="0"/>
          </a:p>
        </p:txBody>
      </p:sp>
      <p:sp>
        <p:nvSpPr>
          <p:cNvPr id="13" name="Shape 11"/>
          <p:cNvSpPr/>
          <p:nvPr/>
        </p:nvSpPr>
        <p:spPr>
          <a:xfrm>
            <a:off x="548640" y="5001768"/>
            <a:ext cx="11091672" cy="1536192"/>
          </a:xfrm>
          <a:prstGeom prst="roundRect">
            <a:avLst>
              <a:gd name="adj" fmla="val 7143"/>
            </a:avLst>
          </a:prstGeom>
          <a:solidFill>
            <a:srgbClr val="EAF3FC"/>
          </a:solidFill>
          <a:ln/>
          <a:effectLst>
            <a:outerShdw blurRad="76200" dist="25400" dir="5400000" algn="bl" rotWithShape="0">
              <a:srgbClr val="3A5A80">
                <a:alpha val="18000"/>
              </a:srgbClr>
            </a:outerShdw>
          </a:effectLst>
        </p:spPr>
      </p:sp>
      <p:sp>
        <p:nvSpPr>
          <p:cNvPr id="14" name="Shape 12"/>
          <p:cNvSpPr/>
          <p:nvPr/>
        </p:nvSpPr>
        <p:spPr>
          <a:xfrm>
            <a:off x="822960" y="5257800"/>
            <a:ext cx="548640" cy="548640"/>
          </a:xfrm>
          <a:prstGeom prst="ellipse">
            <a:avLst/>
          </a:prstGeom>
          <a:solidFill>
            <a:srgbClr val="0B3C6D"/>
          </a:solidFill>
          <a:ln/>
        </p:spPr>
      </p:sp>
      <p:sp>
        <p:nvSpPr>
          <p:cNvPr id="15" name="Text 13"/>
          <p:cNvSpPr/>
          <p:nvPr/>
        </p:nvSpPr>
        <p:spPr>
          <a:xfrm>
            <a:off x="822960" y="5257800"/>
            <a:ext cx="548640" cy="54864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4"/>
          <p:cNvSpPr/>
          <p:nvPr/>
        </p:nvSpPr>
        <p:spPr>
          <a:xfrm>
            <a:off x="1600200" y="5111496"/>
            <a:ext cx="9784080" cy="365760"/>
          </a:xfrm>
          <a:prstGeom prst="rect">
            <a:avLst/>
          </a:prstGeom>
          <a:noFill/>
          <a:ln/>
        </p:spPr>
        <p:txBody>
          <a:bodyPr wrap="square" rtlCol="0" anchor="ctr"/>
          <a:lstStyle/>
          <a:p>
            <a:pPr marL="0" indent="0">
              <a:buNone/>
            </a:pPr>
            <a:r>
              <a:rPr lang="en-US" sz="1700" b="1" dirty="0">
                <a:solidFill>
                  <a:srgbClr val="0B3C6D"/>
                </a:solidFill>
                <a:latin typeface="Calibri" pitchFamily="34" charset="0"/>
                <a:ea typeface="Calibri" pitchFamily="34" charset="-122"/>
                <a:cs typeface="Calibri" pitchFamily="34" charset="-120"/>
              </a:rPr>
              <a:t>E-Commerce Platforms (Sale Days)</a:t>
            </a:r>
            <a:endParaRPr lang="en-US" sz="1700" dirty="0"/>
          </a:p>
        </p:txBody>
      </p:sp>
      <p:sp>
        <p:nvSpPr>
          <p:cNvPr id="17" name="Text 15"/>
          <p:cNvSpPr/>
          <p:nvPr/>
        </p:nvSpPr>
        <p:spPr>
          <a:xfrm>
            <a:off x="1600200" y="5477256"/>
            <a:ext cx="9784080" cy="960120"/>
          </a:xfrm>
          <a:prstGeom prst="rect">
            <a:avLst/>
          </a:prstGeom>
          <a:noFill/>
          <a:ln/>
        </p:spPr>
        <p:txBody>
          <a:bodyPr wrap="square" rtlCol="0" anchor="t"/>
          <a:lstStyle/>
          <a:p>
            <a:pPr marL="0" indent="0">
              <a:lnSpc>
                <a:spcPct val="115000"/>
              </a:lnSpc>
              <a:buNone/>
            </a:pPr>
            <a:r>
              <a:rPr lang="en-US" sz="1450" dirty="0">
                <a:solidFill>
                  <a:srgbClr val="13263C"/>
                </a:solidFill>
                <a:latin typeface="Calibri" pitchFamily="34" charset="0"/>
                <a:ea typeface="Calibri" pitchFamily="34" charset="-122"/>
                <a:cs typeface="Calibri" pitchFamily="34" charset="-120"/>
              </a:rPr>
              <a:t>During big sale events, e-commerce companies rapidly add hundreds of new servers to handle traffic. CM tools instantly configure each new server the same way the existing ones are set up, keeping the whole platform stable under load.</a:t>
            </a:r>
            <a:endParaRPr lang="en-US" sz="1450" dirty="0"/>
          </a:p>
        </p:txBody>
      </p:sp>
      <p:sp>
        <p:nvSpPr>
          <p:cNvPr id="18" name="Text 16"/>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Configuration Management</a:t>
            </a:r>
            <a:endParaRPr lang="en-US" sz="1100" dirty="0"/>
          </a:p>
        </p:txBody>
      </p:sp>
      <p:sp>
        <p:nvSpPr>
          <p:cNvPr id="19" name="Text 17"/>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The Pull Model</a:t>
            </a:r>
            <a:endParaRPr lang="en-US" sz="3400" dirty="0"/>
          </a:p>
        </p:txBody>
      </p:sp>
      <p:sp>
        <p:nvSpPr>
          <p:cNvPr id="3" name="Text 1"/>
          <p:cNvSpPr/>
          <p:nvPr/>
        </p:nvSpPr>
        <p:spPr>
          <a:xfrm>
            <a:off x="548640" y="987552"/>
            <a:ext cx="11091672" cy="365760"/>
          </a:xfrm>
          <a:prstGeom prst="rect">
            <a:avLst/>
          </a:prstGeom>
          <a:noFill/>
          <a:ln/>
        </p:spPr>
        <p:txBody>
          <a:bodyPr wrap="square" rtlCol="0" anchor="ctr"/>
          <a:lstStyle/>
          <a:p>
            <a:pPr marL="0" indent="0" algn="l">
              <a:buNone/>
            </a:pPr>
            <a:r>
              <a:rPr lang="en-US" sz="1600" i="1" dirty="0">
                <a:solidFill>
                  <a:srgbClr val="2E86DE"/>
                </a:solidFill>
                <a:latin typeface="Calibri" pitchFamily="34" charset="0"/>
                <a:ea typeface="Calibri" pitchFamily="34" charset="-122"/>
                <a:cs typeface="Calibri" pitchFamily="34" charset="-120"/>
              </a:rPr>
              <a:t>Clients pull configuration from the server</a:t>
            </a:r>
            <a:endParaRPr lang="en-US" sz="1600" dirty="0"/>
          </a:p>
        </p:txBody>
      </p:sp>
      <p:sp>
        <p:nvSpPr>
          <p:cNvPr id="4" name="Shape 2"/>
          <p:cNvSpPr/>
          <p:nvPr/>
        </p:nvSpPr>
        <p:spPr>
          <a:xfrm>
            <a:off x="548640" y="1691640"/>
            <a:ext cx="11091672" cy="1188720"/>
          </a:xfrm>
          <a:prstGeom prst="roundRect">
            <a:avLst>
              <a:gd name="adj" fmla="val 9231"/>
            </a:avLst>
          </a:prstGeom>
          <a:solidFill>
            <a:srgbClr val="EAF3FC"/>
          </a:solidFill>
          <a:ln/>
          <a:effectLst>
            <a:outerShdw blurRad="76200" dist="25400" dir="5400000" algn="bl" rotWithShape="0">
              <a:srgbClr val="3A5A80">
                <a:alpha val="18000"/>
              </a:srgbClr>
            </a:outerShdw>
          </a:effectLst>
        </p:spPr>
      </p:sp>
      <p:sp>
        <p:nvSpPr>
          <p:cNvPr id="5" name="Text 3"/>
          <p:cNvSpPr/>
          <p:nvPr/>
        </p:nvSpPr>
        <p:spPr>
          <a:xfrm>
            <a:off x="868680" y="1828800"/>
            <a:ext cx="10424160" cy="914400"/>
          </a:xfrm>
          <a:prstGeom prst="rect">
            <a:avLst/>
          </a:prstGeom>
          <a:noFill/>
          <a:ln/>
        </p:spPr>
        <p:txBody>
          <a:bodyPr wrap="square" rtlCol="0" anchor="ctr"/>
          <a:lstStyle/>
          <a:p>
            <a:pPr marL="0" indent="0">
              <a:lnSpc>
                <a:spcPct val="120000"/>
              </a:lnSpc>
              <a:buNone/>
            </a:pPr>
            <a:r>
              <a:rPr lang="en-US" sz="1700" dirty="0">
                <a:solidFill>
                  <a:srgbClr val="13263C"/>
                </a:solidFill>
                <a:latin typeface="Calibri" pitchFamily="34" charset="0"/>
                <a:ea typeface="Calibri" pitchFamily="34" charset="-122"/>
                <a:cs typeface="Calibri" pitchFamily="34" charset="-120"/>
              </a:rPr>
              <a:t>In the Pull Model, each client (agent) installed on a server periodically contacts the central configuration server to check whether any new configuration is available — then downloads and applies it itself.</a:t>
            </a:r>
            <a:endParaRPr lang="en-US" sz="1700" dirty="0"/>
          </a:p>
        </p:txBody>
      </p:sp>
      <p:sp>
        <p:nvSpPr>
          <p:cNvPr id="6" name="Shape 4"/>
          <p:cNvSpPr/>
          <p:nvPr/>
        </p:nvSpPr>
        <p:spPr>
          <a:xfrm>
            <a:off x="548640" y="3063240"/>
            <a:ext cx="5394960" cy="3063240"/>
          </a:xfrm>
          <a:prstGeom prst="roundRect">
            <a:avLst>
              <a:gd name="adj" fmla="val 3582"/>
            </a:avLst>
          </a:prstGeom>
          <a:solidFill>
            <a:srgbClr val="D6E9FA"/>
          </a:solidFill>
          <a:ln/>
          <a:effectLst>
            <a:outerShdw blurRad="76200" dist="25400" dir="5400000" algn="bl" rotWithShape="0">
              <a:srgbClr val="3A5A80">
                <a:alpha val="18000"/>
              </a:srgbClr>
            </a:outerShdw>
          </a:effectLst>
        </p:spPr>
      </p:sp>
      <p:sp>
        <p:nvSpPr>
          <p:cNvPr id="7" name="Text 5"/>
          <p:cNvSpPr/>
          <p:nvPr/>
        </p:nvSpPr>
        <p:spPr>
          <a:xfrm>
            <a:off x="822960" y="3246120"/>
            <a:ext cx="4846320" cy="365760"/>
          </a:xfrm>
          <a:prstGeom prst="rect">
            <a:avLst/>
          </a:prstGeom>
          <a:noFill/>
          <a:ln/>
        </p:spPr>
        <p:txBody>
          <a:bodyPr wrap="square" rtlCol="0" anchor="ctr"/>
          <a:lstStyle/>
          <a:p>
            <a:pPr marL="0" indent="0">
              <a:buNone/>
            </a:pPr>
            <a:r>
              <a:rPr lang="en-US" sz="1800" b="1" dirty="0">
                <a:solidFill>
                  <a:srgbClr val="0B3C6D"/>
                </a:solidFill>
                <a:latin typeface="Calibri" pitchFamily="34" charset="0"/>
                <a:ea typeface="Calibri" pitchFamily="34" charset="-122"/>
                <a:cs typeface="Calibri" pitchFamily="34" charset="-120"/>
              </a:rPr>
              <a:t>Why is it used?</a:t>
            </a:r>
            <a:endParaRPr lang="en-US" sz="1800" dirty="0"/>
          </a:p>
        </p:txBody>
      </p:sp>
      <p:sp>
        <p:nvSpPr>
          <p:cNvPr id="8" name="Text 6"/>
          <p:cNvSpPr/>
          <p:nvPr/>
        </p:nvSpPr>
        <p:spPr>
          <a:xfrm>
            <a:off x="868680" y="3703320"/>
            <a:ext cx="4846320" cy="2286000"/>
          </a:xfrm>
          <a:prstGeom prst="rect">
            <a:avLst/>
          </a:prstGeom>
          <a:noFill/>
          <a:ln/>
        </p:spPr>
        <p:txBody>
          <a:bodyPr wrap="square" rtlCol="0" anchor="t"/>
          <a:lstStyle/>
          <a:p>
            <a:pPr marL="342900" indent="-342900" algn="l">
              <a:lnSpc>
                <a:spcPct val="108000"/>
              </a:lnSpc>
              <a:spcAft>
                <a:spcPts val="1400"/>
              </a:spcAft>
              <a:buSzPct val="100000"/>
              <a:buChar char="•"/>
            </a:pPr>
            <a:r>
              <a:rPr lang="en-US" sz="1600" dirty="0">
                <a:solidFill>
                  <a:srgbClr val="13263C"/>
                </a:solidFill>
                <a:latin typeface="Calibri" pitchFamily="34" charset="0"/>
                <a:ea typeface="Calibri" pitchFamily="34" charset="-122"/>
                <a:cs typeface="Calibri" pitchFamily="34" charset="-120"/>
              </a:rPr>
              <a:t>Clients automatically stay updated</a:t>
            </a:r>
            <a:endParaRPr lang="en-US" sz="1600" dirty="0"/>
          </a:p>
          <a:p>
            <a:pPr marL="342900" indent="-342900" algn="l">
              <a:lnSpc>
                <a:spcPct val="108000"/>
              </a:lnSpc>
              <a:spcAft>
                <a:spcPts val="1400"/>
              </a:spcAft>
              <a:buSzPct val="100000"/>
              <a:buChar char="•"/>
            </a:pPr>
            <a:r>
              <a:rPr lang="en-US" sz="1600" dirty="0">
                <a:solidFill>
                  <a:srgbClr val="13263C"/>
                </a:solidFill>
                <a:latin typeface="Calibri" pitchFamily="34" charset="0"/>
                <a:ea typeface="Calibri" pitchFamily="34" charset="-122"/>
                <a:cs typeface="Calibri" pitchFamily="34" charset="-120"/>
              </a:rPr>
              <a:t>Reduces the administrator's workload</a:t>
            </a:r>
            <a:endParaRPr lang="en-US" sz="1600" dirty="0"/>
          </a:p>
          <a:p>
            <a:pPr marL="342900" indent="-342900" algn="l">
              <a:lnSpc>
                <a:spcPct val="108000"/>
              </a:lnSpc>
              <a:spcAft>
                <a:spcPts val="1400"/>
              </a:spcAft>
              <a:buSzPct val="100000"/>
              <a:buChar char="•"/>
            </a:pPr>
            <a:r>
              <a:rPr lang="en-US" sz="1600" dirty="0">
                <a:solidFill>
                  <a:srgbClr val="13263C"/>
                </a:solidFill>
                <a:latin typeface="Calibri" pitchFamily="34" charset="0"/>
                <a:ea typeface="Calibri" pitchFamily="34" charset="-122"/>
                <a:cs typeface="Calibri" pitchFamily="34" charset="-120"/>
              </a:rPr>
              <a:t>Suitable for large-scale environments</a:t>
            </a:r>
            <a:endParaRPr lang="en-US" sz="1600" dirty="0"/>
          </a:p>
        </p:txBody>
      </p:sp>
      <p:sp>
        <p:nvSpPr>
          <p:cNvPr id="9" name="Shape 7"/>
          <p:cNvSpPr/>
          <p:nvPr/>
        </p:nvSpPr>
        <p:spPr>
          <a:xfrm>
            <a:off x="6245352" y="3063240"/>
            <a:ext cx="5394960" cy="3063240"/>
          </a:xfrm>
          <a:prstGeom prst="roundRect">
            <a:avLst>
              <a:gd name="adj" fmla="val 3582"/>
            </a:avLst>
          </a:prstGeom>
          <a:solidFill>
            <a:srgbClr val="D6E9FA"/>
          </a:solidFill>
          <a:ln/>
          <a:effectLst>
            <a:outerShdw blurRad="76200" dist="25400" dir="5400000" algn="bl" rotWithShape="0">
              <a:srgbClr val="3A5A80">
                <a:alpha val="18000"/>
              </a:srgbClr>
            </a:outerShdw>
          </a:effectLst>
        </p:spPr>
      </p:sp>
      <p:sp>
        <p:nvSpPr>
          <p:cNvPr id="10" name="Text 8"/>
          <p:cNvSpPr/>
          <p:nvPr/>
        </p:nvSpPr>
        <p:spPr>
          <a:xfrm>
            <a:off x="6519672" y="3246120"/>
            <a:ext cx="4846320" cy="365760"/>
          </a:xfrm>
          <a:prstGeom prst="rect">
            <a:avLst/>
          </a:prstGeom>
          <a:noFill/>
          <a:ln/>
        </p:spPr>
        <p:txBody>
          <a:bodyPr wrap="square" rtlCol="0" anchor="ctr"/>
          <a:lstStyle/>
          <a:p>
            <a:pPr marL="0" indent="0">
              <a:buNone/>
            </a:pPr>
            <a:r>
              <a:rPr lang="en-US" sz="1800" b="1" dirty="0">
                <a:solidFill>
                  <a:srgbClr val="0B3C6D"/>
                </a:solidFill>
                <a:latin typeface="Calibri" pitchFamily="34" charset="0"/>
                <a:ea typeface="Calibri" pitchFamily="34" charset="-122"/>
                <a:cs typeface="Calibri" pitchFamily="34" charset="-120"/>
              </a:rPr>
              <a:t>When is it used?</a:t>
            </a:r>
            <a:endParaRPr lang="en-US" sz="1800" dirty="0"/>
          </a:p>
        </p:txBody>
      </p:sp>
      <p:sp>
        <p:nvSpPr>
          <p:cNvPr id="11" name="Text 9"/>
          <p:cNvSpPr/>
          <p:nvPr/>
        </p:nvSpPr>
        <p:spPr>
          <a:xfrm>
            <a:off x="6565392" y="3703320"/>
            <a:ext cx="4846320" cy="2286000"/>
          </a:xfrm>
          <a:prstGeom prst="rect">
            <a:avLst/>
          </a:prstGeom>
          <a:noFill/>
          <a:ln/>
        </p:spPr>
        <p:txBody>
          <a:bodyPr wrap="square" rtlCol="0" anchor="t"/>
          <a:lstStyle/>
          <a:p>
            <a:pPr marL="0" indent="0">
              <a:lnSpc>
                <a:spcPct val="120000"/>
              </a:lnSpc>
              <a:buNone/>
            </a:pPr>
            <a:r>
              <a:rPr lang="en-US" sz="1600" dirty="0">
                <a:solidFill>
                  <a:srgbClr val="13263C"/>
                </a:solidFill>
                <a:latin typeface="Calibri" pitchFamily="34" charset="0"/>
                <a:ea typeface="Calibri" pitchFamily="34" charset="-122"/>
                <a:cs typeface="Calibri" pitchFamily="34" charset="-120"/>
              </a:rPr>
              <a:t>When servers need to update and correct themselves automatically, on a regular schedule, without the admin having to trigger anything manually.</a:t>
            </a:r>
            <a:endParaRPr lang="en-US" sz="1600" dirty="0"/>
          </a:p>
        </p:txBody>
      </p:sp>
      <p:sp>
        <p:nvSpPr>
          <p:cNvPr id="12" name="Text 10"/>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Pull Model</a:t>
            </a:r>
            <a:endParaRPr lang="en-US" sz="11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Pull Model — How It Works</a:t>
            </a:r>
            <a:endParaRPr lang="en-US" sz="3400" dirty="0"/>
          </a:p>
        </p:txBody>
      </p:sp>
      <p:sp>
        <p:nvSpPr>
          <p:cNvPr id="3" name="Text 1"/>
          <p:cNvSpPr/>
          <p:nvPr/>
        </p:nvSpPr>
        <p:spPr>
          <a:xfrm>
            <a:off x="548640" y="987552"/>
            <a:ext cx="11091672" cy="365760"/>
          </a:xfrm>
          <a:prstGeom prst="rect">
            <a:avLst/>
          </a:prstGeom>
          <a:noFill/>
          <a:ln/>
        </p:spPr>
        <p:txBody>
          <a:bodyPr wrap="square" rtlCol="0" anchor="ctr"/>
          <a:lstStyle/>
          <a:p>
            <a:pPr marL="0" indent="0" algn="l">
              <a:buNone/>
            </a:pPr>
            <a:r>
              <a:rPr lang="en-US" sz="1600" i="1" dirty="0">
                <a:solidFill>
                  <a:srgbClr val="2E86DE"/>
                </a:solidFill>
                <a:latin typeface="Calibri" pitchFamily="34" charset="0"/>
                <a:ea typeface="Calibri" pitchFamily="34" charset="-122"/>
                <a:cs typeface="Calibri" pitchFamily="34" charset="-120"/>
              </a:rPr>
              <a:t>Step-by-step sequence</a:t>
            </a:r>
            <a:endParaRPr lang="en-US" sz="1600" dirty="0"/>
          </a:p>
        </p:txBody>
      </p:sp>
      <p:sp>
        <p:nvSpPr>
          <p:cNvPr id="4" name="Shape 2"/>
          <p:cNvSpPr/>
          <p:nvPr/>
        </p:nvSpPr>
        <p:spPr>
          <a:xfrm>
            <a:off x="730889" y="2075688"/>
            <a:ext cx="2011680" cy="822960"/>
          </a:xfrm>
          <a:prstGeom prst="roundRect">
            <a:avLst>
              <a:gd name="adj" fmla="val 11111"/>
            </a:avLst>
          </a:prstGeom>
          <a:solidFill>
            <a:srgbClr val="0B3C6D"/>
          </a:solidFill>
          <a:ln/>
          <a:effectLst>
            <a:outerShdw blurRad="63500" dist="25400" dir="5400000" algn="bl" rotWithShape="0">
              <a:srgbClr val="3A5A80">
                <a:alpha val="18000"/>
              </a:srgbClr>
            </a:outerShdw>
          </a:effectLst>
        </p:spPr>
      </p:sp>
      <p:sp>
        <p:nvSpPr>
          <p:cNvPr id="5" name="Text 3"/>
          <p:cNvSpPr/>
          <p:nvPr/>
        </p:nvSpPr>
        <p:spPr>
          <a:xfrm>
            <a:off x="785753" y="2112264"/>
            <a:ext cx="1865376" cy="822960"/>
          </a:xfrm>
          <a:prstGeom prst="rect">
            <a:avLst/>
          </a:prstGeom>
          <a:noFill/>
          <a:ln/>
        </p:spPr>
        <p:txBody>
          <a:bodyPr wrap="square" rtlCol="0" anchor="ct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Configuration</a:t>
            </a:r>
            <a:endParaRPr lang="en-US" sz="1500" dirty="0"/>
          </a:p>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Server</a:t>
            </a:r>
            <a:endParaRPr lang="en-US" sz="1500" dirty="0"/>
          </a:p>
        </p:txBody>
      </p:sp>
      <p:sp>
        <p:nvSpPr>
          <p:cNvPr id="6" name="Shape 4"/>
          <p:cNvSpPr/>
          <p:nvPr/>
        </p:nvSpPr>
        <p:spPr>
          <a:xfrm>
            <a:off x="9856601" y="2034540"/>
            <a:ext cx="2011680" cy="822960"/>
          </a:xfrm>
          <a:prstGeom prst="roundRect">
            <a:avLst>
              <a:gd name="adj" fmla="val 11111"/>
            </a:avLst>
          </a:prstGeom>
          <a:solidFill>
            <a:srgbClr val="2E86DE"/>
          </a:solidFill>
          <a:ln/>
          <a:effectLst>
            <a:outerShdw blurRad="63500" dist="25400" dir="5400000" algn="bl" rotWithShape="0">
              <a:srgbClr val="3A5A80">
                <a:alpha val="18000"/>
              </a:srgbClr>
            </a:outerShdw>
          </a:effectLst>
        </p:spPr>
      </p:sp>
      <p:sp>
        <p:nvSpPr>
          <p:cNvPr id="7" name="Text 5"/>
          <p:cNvSpPr/>
          <p:nvPr/>
        </p:nvSpPr>
        <p:spPr>
          <a:xfrm>
            <a:off x="10002905" y="2011680"/>
            <a:ext cx="1865376" cy="822960"/>
          </a:xfrm>
          <a:prstGeom prst="rect">
            <a:avLst/>
          </a:prstGeom>
          <a:noFill/>
          <a:ln/>
        </p:spPr>
        <p:txBody>
          <a:bodyPr wrap="square" rtlCol="0" anchor="ctr"/>
          <a:lstStyle/>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Client</a:t>
            </a:r>
            <a:endParaRPr lang="en-US" sz="1500" dirty="0"/>
          </a:p>
          <a:p>
            <a:pPr marL="0" indent="0" algn="ctr">
              <a:lnSpc>
                <a:spcPct val="100000"/>
              </a:lnSpc>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p:txBody>
      </p:sp>
      <p:sp>
        <p:nvSpPr>
          <p:cNvPr id="8" name="Shape 6"/>
          <p:cNvSpPr/>
          <p:nvPr/>
        </p:nvSpPr>
        <p:spPr>
          <a:xfrm>
            <a:off x="346210" y="1351341"/>
            <a:ext cx="2468880" cy="502920"/>
          </a:xfrm>
          <a:prstGeom prst="roundRect">
            <a:avLst>
              <a:gd name="adj" fmla="val 14545"/>
            </a:avLst>
          </a:prstGeom>
          <a:solidFill>
            <a:srgbClr val="EAF3FC"/>
          </a:solidFill>
          <a:ln w="12700">
            <a:solidFill>
              <a:srgbClr val="0B3C6D"/>
            </a:solidFill>
            <a:prstDash val="solid"/>
          </a:ln>
        </p:spPr>
      </p:sp>
      <p:sp>
        <p:nvSpPr>
          <p:cNvPr id="9" name="Text 7"/>
          <p:cNvSpPr/>
          <p:nvPr/>
        </p:nvSpPr>
        <p:spPr>
          <a:xfrm>
            <a:off x="346210" y="1351341"/>
            <a:ext cx="2468880" cy="502920"/>
          </a:xfrm>
          <a:prstGeom prst="rect">
            <a:avLst/>
          </a:prstGeom>
          <a:noFill/>
          <a:ln/>
        </p:spPr>
        <p:txBody>
          <a:bodyPr wrap="square" rtlCol="0" anchor="ctr"/>
          <a:lstStyle/>
          <a:p>
            <a:pPr marL="0" indent="0" algn="ctr">
              <a:buNone/>
            </a:pPr>
            <a:r>
              <a:rPr lang="en-US" sz="1250" b="1" dirty="0">
                <a:solidFill>
                  <a:srgbClr val="0B3C6D"/>
                </a:solidFill>
                <a:latin typeface="Calibri" pitchFamily="34" charset="0"/>
                <a:ea typeface="Calibri" pitchFamily="34" charset="-122"/>
                <a:cs typeface="Calibri" pitchFamily="34" charset="-120"/>
              </a:rPr>
              <a:t>1. Admin updates the</a:t>
            </a:r>
            <a:endParaRPr lang="en-US" sz="1250" dirty="0"/>
          </a:p>
          <a:p>
            <a:pPr marL="0" indent="0" algn="ctr">
              <a:buNone/>
            </a:pPr>
            <a:r>
              <a:rPr lang="en-US" sz="1250" b="1" dirty="0">
                <a:solidFill>
                  <a:srgbClr val="0B3C6D"/>
                </a:solidFill>
                <a:latin typeface="Calibri" pitchFamily="34" charset="0"/>
                <a:ea typeface="Calibri" pitchFamily="34" charset="-122"/>
                <a:cs typeface="Calibri" pitchFamily="34" charset="-120"/>
              </a:rPr>
              <a:t>configuration</a:t>
            </a:r>
            <a:endParaRPr lang="en-US" sz="1250" dirty="0"/>
          </a:p>
        </p:txBody>
      </p:sp>
      <p:sp>
        <p:nvSpPr>
          <p:cNvPr id="10" name="Shape 8"/>
          <p:cNvSpPr/>
          <p:nvPr/>
        </p:nvSpPr>
        <p:spPr>
          <a:xfrm>
            <a:off x="9052560" y="2011680"/>
            <a:ext cx="0" cy="0"/>
          </a:xfrm>
          <a:prstGeom prst="line">
            <a:avLst/>
          </a:prstGeom>
          <a:noFill/>
          <a:ln w="31750">
            <a:solidFill>
              <a:srgbClr val="2E86DE"/>
            </a:solidFill>
            <a:prstDash val="solid"/>
            <a:tailEnd type="triangle"/>
          </a:ln>
        </p:spPr>
      </p:sp>
      <p:sp>
        <p:nvSpPr>
          <p:cNvPr id="11" name="Text 9"/>
          <p:cNvSpPr/>
          <p:nvPr/>
        </p:nvSpPr>
        <p:spPr>
          <a:xfrm>
            <a:off x="2880360" y="1897381"/>
            <a:ext cx="6949440" cy="365760"/>
          </a:xfrm>
          <a:prstGeom prst="rect">
            <a:avLst/>
          </a:prstGeom>
          <a:noFill/>
          <a:ln/>
        </p:spPr>
        <p:txBody>
          <a:bodyPr wrap="square" rtlCol="0" anchor="ctr"/>
          <a:lstStyle/>
          <a:p>
            <a:pPr marL="0" indent="0" algn="ctr">
              <a:buNone/>
            </a:pPr>
            <a:r>
              <a:rPr lang="en-US" i="1" dirty="0">
                <a:solidFill>
                  <a:srgbClr val="5B6B7C"/>
                </a:solidFill>
                <a:latin typeface="Calibri" pitchFamily="34" charset="0"/>
                <a:ea typeface="Calibri" pitchFamily="34" charset="-122"/>
                <a:cs typeface="Calibri" pitchFamily="34" charset="-120"/>
              </a:rPr>
              <a:t>2. Client contacts server after a fixed interval (checks for updates)</a:t>
            </a:r>
            <a:endParaRPr lang="en-US" dirty="0"/>
          </a:p>
        </p:txBody>
      </p:sp>
      <p:sp>
        <p:nvSpPr>
          <p:cNvPr id="12" name="Shape 10"/>
          <p:cNvSpPr/>
          <p:nvPr/>
        </p:nvSpPr>
        <p:spPr>
          <a:xfrm>
            <a:off x="2724281" y="2560320"/>
            <a:ext cx="7132320" cy="0"/>
          </a:xfrm>
          <a:prstGeom prst="line">
            <a:avLst/>
          </a:prstGeom>
          <a:noFill/>
          <a:ln w="31750">
            <a:solidFill>
              <a:srgbClr val="0B3C6D"/>
            </a:solidFill>
            <a:prstDash val="solid"/>
            <a:tailEnd type="triangle"/>
          </a:ln>
        </p:spPr>
      </p:sp>
      <p:sp>
        <p:nvSpPr>
          <p:cNvPr id="13" name="Text 11"/>
          <p:cNvSpPr/>
          <p:nvPr/>
        </p:nvSpPr>
        <p:spPr>
          <a:xfrm>
            <a:off x="2484646" y="3029817"/>
            <a:ext cx="6949440" cy="365760"/>
          </a:xfrm>
          <a:prstGeom prst="rect">
            <a:avLst/>
          </a:prstGeom>
          <a:noFill/>
          <a:ln/>
        </p:spPr>
        <p:txBody>
          <a:bodyPr wrap="square" rtlCol="0" anchor="ctr"/>
          <a:lstStyle/>
          <a:p>
            <a:pPr marL="0" indent="0" algn="ctr">
              <a:buNone/>
            </a:pPr>
            <a:r>
              <a:rPr lang="en-US" i="1" dirty="0">
                <a:solidFill>
                  <a:srgbClr val="5B6B7C"/>
                </a:solidFill>
                <a:latin typeface="Calibri" pitchFamily="34" charset="0"/>
                <a:ea typeface="Calibri" pitchFamily="34" charset="-122"/>
                <a:cs typeface="Calibri" pitchFamily="34" charset="-120"/>
              </a:rPr>
              <a:t>3. If changes exist, client downloads &amp; applies them</a:t>
            </a:r>
            <a:endParaRPr lang="en-US" dirty="0"/>
          </a:p>
        </p:txBody>
      </p:sp>
      <p:sp>
        <p:nvSpPr>
          <p:cNvPr id="14" name="Text 12"/>
          <p:cNvSpPr/>
          <p:nvPr/>
        </p:nvSpPr>
        <p:spPr>
          <a:xfrm>
            <a:off x="548640" y="3520440"/>
            <a:ext cx="11091672" cy="365760"/>
          </a:xfrm>
          <a:prstGeom prst="rect">
            <a:avLst/>
          </a:prstGeom>
          <a:noFill/>
          <a:ln/>
        </p:spPr>
        <p:txBody>
          <a:bodyPr wrap="square" rtlCol="0" anchor="ctr"/>
          <a:lstStyle/>
          <a:p>
            <a:pPr marL="0" indent="0" algn="ctr">
              <a:buNone/>
            </a:pPr>
            <a:r>
              <a:rPr lang="en-US" sz="2000" i="1" dirty="0">
                <a:solidFill>
                  <a:srgbClr val="2E86DE"/>
                </a:solidFill>
                <a:latin typeface="Calibri" pitchFamily="34" charset="0"/>
                <a:ea typeface="Calibri" pitchFamily="34" charset="-122"/>
                <a:cs typeface="Calibri" pitchFamily="34" charset="-120"/>
              </a:rPr>
              <a:t>This cycle repeats periodically (e.g. every 30 minutes)</a:t>
            </a:r>
            <a:endParaRPr lang="en-US" sz="2000" dirty="0"/>
          </a:p>
        </p:txBody>
      </p:sp>
      <p:sp>
        <p:nvSpPr>
          <p:cNvPr id="15" name="Shape 13"/>
          <p:cNvSpPr/>
          <p:nvPr/>
        </p:nvSpPr>
        <p:spPr>
          <a:xfrm>
            <a:off x="548640" y="4114800"/>
            <a:ext cx="11091672" cy="2148840"/>
          </a:xfrm>
          <a:prstGeom prst="roundRect">
            <a:avLst>
              <a:gd name="adj" fmla="val 5106"/>
            </a:avLst>
          </a:prstGeom>
          <a:solidFill>
            <a:srgbClr val="EAF3FC"/>
          </a:solidFill>
          <a:ln/>
          <a:effectLst>
            <a:outerShdw blurRad="76200" dist="25400" dir="5400000" algn="bl" rotWithShape="0">
              <a:srgbClr val="3A5A80">
                <a:alpha val="18000"/>
              </a:srgbClr>
            </a:outerShdw>
          </a:effectLst>
        </p:spPr>
      </p:sp>
      <p:sp>
        <p:nvSpPr>
          <p:cNvPr id="16" name="Text 14"/>
          <p:cNvSpPr/>
          <p:nvPr/>
        </p:nvSpPr>
        <p:spPr>
          <a:xfrm>
            <a:off x="868680" y="4279392"/>
            <a:ext cx="5486400" cy="320040"/>
          </a:xfrm>
          <a:prstGeom prst="rect">
            <a:avLst/>
          </a:prstGeom>
          <a:noFill/>
          <a:ln/>
        </p:spPr>
        <p:txBody>
          <a:bodyPr wrap="square" rtlCol="0" anchor="ctr"/>
          <a:lstStyle/>
          <a:p>
            <a:pPr marL="0" indent="0">
              <a:buNone/>
            </a:pPr>
            <a:r>
              <a:rPr lang="en-US" sz="1600" b="1" dirty="0">
                <a:solidFill>
                  <a:srgbClr val="0B3C6D"/>
                </a:solidFill>
                <a:latin typeface="Calibri" pitchFamily="34" charset="0"/>
                <a:ea typeface="Calibri" pitchFamily="34" charset="-122"/>
                <a:cs typeface="Calibri" pitchFamily="34" charset="-120"/>
              </a:rPr>
              <a:t>Sequence Recap</a:t>
            </a:r>
            <a:endParaRPr lang="en-US" sz="1600" dirty="0"/>
          </a:p>
        </p:txBody>
      </p:sp>
      <p:sp>
        <p:nvSpPr>
          <p:cNvPr id="17" name="Text 15"/>
          <p:cNvSpPr/>
          <p:nvPr/>
        </p:nvSpPr>
        <p:spPr>
          <a:xfrm>
            <a:off x="868680" y="4617720"/>
            <a:ext cx="10424160" cy="1554480"/>
          </a:xfrm>
          <a:prstGeom prst="rect">
            <a:avLst/>
          </a:prstGeom>
          <a:noFill/>
          <a:ln/>
        </p:spPr>
        <p:txBody>
          <a:bodyPr wrap="square" rtlCol="0" anchor="t"/>
          <a:lstStyle/>
          <a:p>
            <a:pPr marL="342900" indent="-342900" algn="l">
              <a:lnSpc>
                <a:spcPct val="108000"/>
              </a:lnSpc>
              <a:spcAft>
                <a:spcPts val="1000"/>
              </a:spcAft>
              <a:buSzPct val="100000"/>
              <a:buChar char="•"/>
            </a:pPr>
            <a:r>
              <a:rPr lang="en-US" sz="1550" dirty="0">
                <a:solidFill>
                  <a:srgbClr val="13263C"/>
                </a:solidFill>
                <a:latin typeface="Calibri" pitchFamily="34" charset="0"/>
                <a:ea typeface="Calibri" pitchFamily="34" charset="-122"/>
                <a:cs typeface="Calibri" pitchFamily="34" charset="-120"/>
              </a:rPr>
              <a:t>The administrator updates the configuration on the central server.</a:t>
            </a:r>
            <a:endParaRPr lang="en-US" sz="1550" dirty="0"/>
          </a:p>
          <a:p>
            <a:pPr marL="342900" indent="-342900" algn="l">
              <a:lnSpc>
                <a:spcPct val="108000"/>
              </a:lnSpc>
              <a:spcAft>
                <a:spcPts val="1000"/>
              </a:spcAft>
              <a:buSzPct val="100000"/>
              <a:buChar char="•"/>
            </a:pPr>
            <a:r>
              <a:rPr lang="en-US" sz="1550" dirty="0">
                <a:solidFill>
                  <a:srgbClr val="13263C"/>
                </a:solidFill>
                <a:latin typeface="Calibri" pitchFamily="34" charset="0"/>
                <a:ea typeface="Calibri" pitchFamily="34" charset="-122"/>
                <a:cs typeface="Calibri" pitchFamily="34" charset="-120"/>
              </a:rPr>
              <a:t>The client contacts the server after a fixed interval (its "pull" schedule).</a:t>
            </a:r>
            <a:endParaRPr lang="en-US" sz="1550" dirty="0"/>
          </a:p>
          <a:p>
            <a:pPr marL="342900" indent="-342900" algn="l">
              <a:lnSpc>
                <a:spcPct val="108000"/>
              </a:lnSpc>
              <a:spcAft>
                <a:spcPts val="1000"/>
              </a:spcAft>
              <a:buSzPct val="100000"/>
              <a:buChar char="•"/>
            </a:pPr>
            <a:r>
              <a:rPr lang="en-US" sz="1550" dirty="0">
                <a:solidFill>
                  <a:srgbClr val="13263C"/>
                </a:solidFill>
                <a:latin typeface="Calibri" pitchFamily="34" charset="0"/>
                <a:ea typeface="Calibri" pitchFamily="34" charset="-122"/>
                <a:cs typeface="Calibri" pitchFamily="34" charset="-120"/>
              </a:rPr>
              <a:t>If changes are available, the client downloads and applies them itself.</a:t>
            </a:r>
            <a:endParaRPr lang="en-US" sz="1550" dirty="0"/>
          </a:p>
        </p:txBody>
      </p:sp>
      <p:sp>
        <p:nvSpPr>
          <p:cNvPr id="18" name="Text 16"/>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Pull Model</a:t>
            </a:r>
            <a:endParaRPr lang="en-US" sz="1100" dirty="0"/>
          </a:p>
        </p:txBody>
      </p:sp>
      <p:sp>
        <p:nvSpPr>
          <p:cNvPr id="19" name="Text 17"/>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Pull Model — Real-Time Example</a:t>
            </a:r>
            <a:endParaRPr lang="en-US" sz="3400" dirty="0"/>
          </a:p>
        </p:txBody>
      </p:sp>
      <p:sp>
        <p:nvSpPr>
          <p:cNvPr id="3" name="Text 1"/>
          <p:cNvSpPr/>
          <p:nvPr/>
        </p:nvSpPr>
        <p:spPr>
          <a:xfrm>
            <a:off x="548640" y="987552"/>
            <a:ext cx="11091672" cy="365760"/>
          </a:xfrm>
          <a:prstGeom prst="rect">
            <a:avLst/>
          </a:prstGeom>
          <a:noFill/>
          <a:ln/>
        </p:spPr>
        <p:txBody>
          <a:bodyPr wrap="square" rtlCol="0" anchor="ctr"/>
          <a:lstStyle/>
          <a:p>
            <a:pPr marL="0" indent="0" algn="l">
              <a:buNone/>
            </a:pPr>
            <a:r>
              <a:rPr lang="en-US" sz="1600" i="1" dirty="0">
                <a:solidFill>
                  <a:srgbClr val="2E86DE"/>
                </a:solidFill>
                <a:latin typeface="Calibri" pitchFamily="34" charset="0"/>
                <a:ea typeface="Calibri" pitchFamily="34" charset="-122"/>
                <a:cs typeface="Calibri" pitchFamily="34" charset="-120"/>
              </a:rPr>
              <a:t>Your smartphone checking for updates</a:t>
            </a:r>
            <a:endParaRPr lang="en-US" sz="1600" dirty="0"/>
          </a:p>
        </p:txBody>
      </p:sp>
      <p:sp>
        <p:nvSpPr>
          <p:cNvPr id="4" name="Shape 2"/>
          <p:cNvSpPr/>
          <p:nvPr/>
        </p:nvSpPr>
        <p:spPr>
          <a:xfrm>
            <a:off x="548640" y="1691640"/>
            <a:ext cx="6400800" cy="4480560"/>
          </a:xfrm>
          <a:prstGeom prst="roundRect">
            <a:avLst>
              <a:gd name="adj" fmla="val 2449"/>
            </a:avLst>
          </a:prstGeom>
          <a:solidFill>
            <a:srgbClr val="EAF3FC"/>
          </a:solidFill>
          <a:ln/>
          <a:effectLst>
            <a:outerShdw blurRad="76200" dist="25400" dir="5400000" algn="bl" rotWithShape="0">
              <a:srgbClr val="3A5A80">
                <a:alpha val="18000"/>
              </a:srgbClr>
            </a:outerShdw>
          </a:effectLst>
        </p:spPr>
      </p:sp>
      <p:sp>
        <p:nvSpPr>
          <p:cNvPr id="5" name="Text 3"/>
          <p:cNvSpPr/>
          <p:nvPr/>
        </p:nvSpPr>
        <p:spPr>
          <a:xfrm>
            <a:off x="868680" y="1874520"/>
            <a:ext cx="5760720" cy="777240"/>
          </a:xfrm>
          <a:prstGeom prst="rect">
            <a:avLst/>
          </a:prstGeom>
          <a:noFill/>
          <a:ln/>
        </p:spPr>
        <p:txBody>
          <a:bodyPr wrap="square" rtlCol="0" anchor="ctr"/>
          <a:lstStyle/>
          <a:p>
            <a:pPr marL="0" indent="0">
              <a:lnSpc>
                <a:spcPct val="120000"/>
              </a:lnSpc>
              <a:buNone/>
            </a:pPr>
            <a:r>
              <a:rPr lang="en-US" sz="1700" b="1" dirty="0">
                <a:solidFill>
                  <a:srgbClr val="0B3C6D"/>
                </a:solidFill>
                <a:latin typeface="Calibri" pitchFamily="34" charset="0"/>
                <a:ea typeface="Calibri" pitchFamily="34" charset="-122"/>
                <a:cs typeface="Calibri" pitchFamily="34" charset="-120"/>
              </a:rPr>
              <a:t>Just like your smartphone automatically checks for software updates, a Pull-based CM client checks in with the server on its own schedule.</a:t>
            </a:r>
            <a:endParaRPr lang="en-US" sz="1700" dirty="0"/>
          </a:p>
        </p:txBody>
      </p:sp>
      <p:sp>
        <p:nvSpPr>
          <p:cNvPr id="6" name="Text 4"/>
          <p:cNvSpPr/>
          <p:nvPr/>
        </p:nvSpPr>
        <p:spPr>
          <a:xfrm>
            <a:off x="868680" y="2743200"/>
            <a:ext cx="5760720" cy="3291840"/>
          </a:xfrm>
          <a:prstGeom prst="rect">
            <a:avLst/>
          </a:prstGeom>
          <a:noFill/>
          <a:ln/>
        </p:spPr>
        <p:txBody>
          <a:bodyPr wrap="square" rtlCol="0" anchor="t"/>
          <a:lstStyle/>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You don't manually request the update — the phone checks periodically in the background.</a:t>
            </a:r>
            <a:endParaRPr lang="en-US" sz="1550" dirty="0"/>
          </a:p>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If a new version (iOS/Android update) is available, it's downloaded automatically.</a:t>
            </a:r>
            <a:endParaRPr lang="en-US" sz="1550" dirty="0"/>
          </a:p>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If nothing is new, the phone simply waits and checks again later.</a:t>
            </a:r>
            <a:endParaRPr lang="en-US" sz="1550" dirty="0"/>
          </a:p>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The same pattern applies to servers: they "pull" updates instead of waiting to be pushed.</a:t>
            </a:r>
            <a:endParaRPr lang="en-US" sz="1550" dirty="0"/>
          </a:p>
        </p:txBody>
      </p:sp>
      <p:sp>
        <p:nvSpPr>
          <p:cNvPr id="7" name="Shape 5"/>
          <p:cNvSpPr/>
          <p:nvPr/>
        </p:nvSpPr>
        <p:spPr>
          <a:xfrm>
            <a:off x="8321040" y="1920240"/>
            <a:ext cx="2286000" cy="777240"/>
          </a:xfrm>
          <a:prstGeom prst="roundRect">
            <a:avLst>
              <a:gd name="adj" fmla="val 11765"/>
            </a:avLst>
          </a:prstGeom>
          <a:solidFill>
            <a:srgbClr val="0B3C6D"/>
          </a:solidFill>
          <a:ln/>
          <a:effectLst>
            <a:outerShdw blurRad="63500" dist="25400" dir="5400000" algn="bl" rotWithShape="0">
              <a:srgbClr val="3A5A80">
                <a:alpha val="18000"/>
              </a:srgbClr>
            </a:outerShdw>
          </a:effectLst>
        </p:spPr>
      </p:sp>
      <p:sp>
        <p:nvSpPr>
          <p:cNvPr id="8" name="Text 6"/>
          <p:cNvSpPr/>
          <p:nvPr/>
        </p:nvSpPr>
        <p:spPr>
          <a:xfrm>
            <a:off x="8394192" y="1920240"/>
            <a:ext cx="2139696" cy="77724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Update Server</a:t>
            </a:r>
            <a:endParaRPr lang="en-US" sz="1400" dirty="0"/>
          </a:p>
        </p:txBody>
      </p:sp>
      <p:sp>
        <p:nvSpPr>
          <p:cNvPr id="9" name="Shape 7"/>
          <p:cNvSpPr/>
          <p:nvPr/>
        </p:nvSpPr>
        <p:spPr>
          <a:xfrm>
            <a:off x="8321040" y="5074920"/>
            <a:ext cx="2286000" cy="777240"/>
          </a:xfrm>
          <a:prstGeom prst="roundRect">
            <a:avLst>
              <a:gd name="adj" fmla="val 11765"/>
            </a:avLst>
          </a:prstGeom>
          <a:solidFill>
            <a:srgbClr val="2E86DE"/>
          </a:solidFill>
          <a:ln/>
          <a:effectLst>
            <a:outerShdw blurRad="63500" dist="25400" dir="5400000" algn="bl" rotWithShape="0">
              <a:srgbClr val="3A5A80">
                <a:alpha val="18000"/>
              </a:srgbClr>
            </a:outerShdw>
          </a:effectLst>
        </p:spPr>
      </p:sp>
      <p:sp>
        <p:nvSpPr>
          <p:cNvPr id="10" name="Text 8"/>
          <p:cNvSpPr/>
          <p:nvPr/>
        </p:nvSpPr>
        <p:spPr>
          <a:xfrm>
            <a:off x="8394192" y="5074920"/>
            <a:ext cx="2139696" cy="777240"/>
          </a:xfrm>
          <a:prstGeom prst="rect">
            <a:avLst/>
          </a:prstGeom>
          <a:noFill/>
          <a:ln/>
        </p:spPr>
        <p:txBody>
          <a:bodyPr wrap="square" rtlCol="0" anchor="ctr"/>
          <a:lstStyle/>
          <a:p>
            <a:pPr marL="0" indent="0" algn="ctr">
              <a:lnSpc>
                <a:spcPct val="100000"/>
              </a:lnSpc>
              <a:buNone/>
            </a:pPr>
            <a:r>
              <a:rPr lang="en-US" sz="1400" b="1" dirty="0">
                <a:solidFill>
                  <a:srgbClr val="FFFFFF"/>
                </a:solidFill>
                <a:latin typeface="Calibri" pitchFamily="34" charset="0"/>
                <a:ea typeface="Calibri" pitchFamily="34" charset="-122"/>
                <a:cs typeface="Calibri" pitchFamily="34" charset="-120"/>
              </a:rPr>
              <a:t>Your Smartphone</a:t>
            </a:r>
            <a:endParaRPr lang="en-US" sz="1400" dirty="0"/>
          </a:p>
        </p:txBody>
      </p:sp>
      <p:sp>
        <p:nvSpPr>
          <p:cNvPr id="11" name="Shape 9"/>
          <p:cNvSpPr/>
          <p:nvPr/>
        </p:nvSpPr>
        <p:spPr>
          <a:xfrm>
            <a:off x="8915400" y="2697480"/>
            <a:ext cx="0" cy="2331720"/>
          </a:xfrm>
          <a:prstGeom prst="line">
            <a:avLst/>
          </a:prstGeom>
          <a:noFill/>
          <a:ln w="31750">
            <a:solidFill>
              <a:srgbClr val="2E86DE"/>
            </a:solidFill>
            <a:prstDash val="solid"/>
            <a:tailEnd type="triangle"/>
          </a:ln>
        </p:spPr>
      </p:sp>
      <p:sp>
        <p:nvSpPr>
          <p:cNvPr id="12" name="Text 10"/>
          <p:cNvSpPr/>
          <p:nvPr/>
        </p:nvSpPr>
        <p:spPr>
          <a:xfrm>
            <a:off x="9601200" y="3200400"/>
            <a:ext cx="1463040" cy="548640"/>
          </a:xfrm>
          <a:prstGeom prst="rect">
            <a:avLst/>
          </a:prstGeom>
          <a:noFill/>
          <a:ln/>
        </p:spPr>
        <p:txBody>
          <a:bodyPr wrap="square" rtlCol="0" anchor="ctr"/>
          <a:lstStyle/>
          <a:p>
            <a:pPr marL="0" indent="0" algn="l">
              <a:buNone/>
            </a:pPr>
            <a:r>
              <a:rPr lang="en-US" i="1" dirty="0">
                <a:solidFill>
                  <a:srgbClr val="5B6B7C"/>
                </a:solidFill>
                <a:latin typeface="Calibri" pitchFamily="34" charset="0"/>
                <a:ea typeface="Calibri" pitchFamily="34" charset="-122"/>
                <a:cs typeface="Calibri" pitchFamily="34" charset="-120"/>
              </a:rPr>
              <a:t>checks in</a:t>
            </a:r>
            <a:endParaRPr lang="en-US" dirty="0"/>
          </a:p>
          <a:p>
            <a:pPr marL="0" indent="0" algn="l">
              <a:buNone/>
            </a:pPr>
            <a:r>
              <a:rPr lang="en-US" i="1" dirty="0">
                <a:solidFill>
                  <a:srgbClr val="5B6B7C"/>
                </a:solidFill>
                <a:latin typeface="Calibri" pitchFamily="34" charset="0"/>
                <a:ea typeface="Calibri" pitchFamily="34" charset="-122"/>
                <a:cs typeface="Calibri" pitchFamily="34" charset="-120"/>
              </a:rPr>
              <a:t>(e.g. daily)</a:t>
            </a:r>
            <a:endParaRPr lang="en-US" dirty="0"/>
          </a:p>
        </p:txBody>
      </p:sp>
      <p:sp>
        <p:nvSpPr>
          <p:cNvPr id="13" name="Shape 11"/>
          <p:cNvSpPr/>
          <p:nvPr/>
        </p:nvSpPr>
        <p:spPr>
          <a:xfrm>
            <a:off x="9921240" y="5029200"/>
            <a:ext cx="0" cy="0"/>
          </a:xfrm>
          <a:prstGeom prst="line">
            <a:avLst/>
          </a:prstGeom>
          <a:noFill/>
          <a:ln w="31750">
            <a:solidFill>
              <a:srgbClr val="0B3C6D"/>
            </a:solidFill>
            <a:prstDash val="solid"/>
            <a:tailEnd type="triangle"/>
          </a:ln>
        </p:spPr>
      </p:sp>
      <p:sp>
        <p:nvSpPr>
          <p:cNvPr id="14" name="Text 12"/>
          <p:cNvSpPr/>
          <p:nvPr/>
        </p:nvSpPr>
        <p:spPr>
          <a:xfrm>
            <a:off x="6812280" y="3200400"/>
            <a:ext cx="1737360" cy="548640"/>
          </a:xfrm>
          <a:prstGeom prst="rect">
            <a:avLst/>
          </a:prstGeom>
          <a:noFill/>
          <a:ln/>
        </p:spPr>
        <p:txBody>
          <a:bodyPr wrap="square" rtlCol="0" anchor="ctr"/>
          <a:lstStyle/>
          <a:p>
            <a:pPr marL="0" indent="0" algn="r">
              <a:buNone/>
            </a:pPr>
            <a:r>
              <a:rPr lang="en-US" i="1" dirty="0">
                <a:solidFill>
                  <a:srgbClr val="5B6B7C"/>
                </a:solidFill>
                <a:latin typeface="Calibri" pitchFamily="34" charset="0"/>
                <a:ea typeface="Calibri" pitchFamily="34" charset="-122"/>
                <a:cs typeface="Calibri" pitchFamily="34" charset="-120"/>
              </a:rPr>
              <a:t>update sent</a:t>
            </a:r>
            <a:endParaRPr lang="en-US" dirty="0"/>
          </a:p>
          <a:p>
            <a:pPr marL="0" indent="0" algn="r">
              <a:buNone/>
            </a:pPr>
            <a:r>
              <a:rPr lang="en-US" i="1" dirty="0">
                <a:solidFill>
                  <a:srgbClr val="5B6B7C"/>
                </a:solidFill>
                <a:latin typeface="Calibri" pitchFamily="34" charset="0"/>
                <a:ea typeface="Calibri" pitchFamily="34" charset="-122"/>
                <a:cs typeface="Calibri" pitchFamily="34" charset="-120"/>
              </a:rPr>
              <a:t>if available</a:t>
            </a:r>
            <a:endParaRPr lang="en-US" dirty="0"/>
          </a:p>
        </p:txBody>
      </p:sp>
      <p:sp>
        <p:nvSpPr>
          <p:cNvPr id="15" name="Text 13"/>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Pull Model</a:t>
            </a:r>
            <a:endParaRPr lang="en-US" sz="1100" dirty="0"/>
          </a:p>
        </p:txBody>
      </p:sp>
      <p:sp>
        <p:nvSpPr>
          <p:cNvPr id="16" name="Text 14"/>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The Push Model</a:t>
            </a:r>
            <a:endParaRPr lang="en-US" sz="3400" dirty="0"/>
          </a:p>
        </p:txBody>
      </p:sp>
      <p:sp>
        <p:nvSpPr>
          <p:cNvPr id="3" name="Text 1"/>
          <p:cNvSpPr/>
          <p:nvPr/>
        </p:nvSpPr>
        <p:spPr>
          <a:xfrm>
            <a:off x="548640" y="987552"/>
            <a:ext cx="11091672" cy="365760"/>
          </a:xfrm>
          <a:prstGeom prst="rect">
            <a:avLst/>
          </a:prstGeom>
          <a:noFill/>
          <a:ln/>
        </p:spPr>
        <p:txBody>
          <a:bodyPr wrap="square" rtlCol="0" anchor="ctr"/>
          <a:lstStyle/>
          <a:p>
            <a:pPr marL="0" indent="0" algn="l">
              <a:buNone/>
            </a:pPr>
            <a:r>
              <a:rPr lang="en-US" sz="1600" i="1" dirty="0">
                <a:solidFill>
                  <a:srgbClr val="2E86DE"/>
                </a:solidFill>
                <a:latin typeface="Calibri" pitchFamily="34" charset="0"/>
                <a:ea typeface="Calibri" pitchFamily="34" charset="-122"/>
                <a:cs typeface="Calibri" pitchFamily="34" charset="-120"/>
              </a:rPr>
              <a:t>The server pushes configuration to clients</a:t>
            </a:r>
            <a:endParaRPr lang="en-US" sz="1600" dirty="0"/>
          </a:p>
        </p:txBody>
      </p:sp>
      <p:sp>
        <p:nvSpPr>
          <p:cNvPr id="4" name="Shape 2"/>
          <p:cNvSpPr/>
          <p:nvPr/>
        </p:nvSpPr>
        <p:spPr>
          <a:xfrm>
            <a:off x="548640" y="1691640"/>
            <a:ext cx="11091672" cy="1188720"/>
          </a:xfrm>
          <a:prstGeom prst="roundRect">
            <a:avLst>
              <a:gd name="adj" fmla="val 9231"/>
            </a:avLst>
          </a:prstGeom>
          <a:solidFill>
            <a:srgbClr val="D6E9FA"/>
          </a:solidFill>
          <a:ln/>
          <a:effectLst>
            <a:outerShdw blurRad="76200" dist="25400" dir="5400000" algn="bl" rotWithShape="0">
              <a:srgbClr val="3A5A80">
                <a:alpha val="18000"/>
              </a:srgbClr>
            </a:outerShdw>
          </a:effectLst>
        </p:spPr>
      </p:sp>
      <p:sp>
        <p:nvSpPr>
          <p:cNvPr id="5" name="Text 3"/>
          <p:cNvSpPr/>
          <p:nvPr/>
        </p:nvSpPr>
        <p:spPr>
          <a:xfrm>
            <a:off x="868680" y="1828800"/>
            <a:ext cx="10424160" cy="914400"/>
          </a:xfrm>
          <a:prstGeom prst="rect">
            <a:avLst/>
          </a:prstGeom>
          <a:noFill/>
          <a:ln/>
        </p:spPr>
        <p:txBody>
          <a:bodyPr wrap="square" rtlCol="0" anchor="ctr"/>
          <a:lstStyle/>
          <a:p>
            <a:pPr marL="0" indent="0">
              <a:lnSpc>
                <a:spcPct val="120000"/>
              </a:lnSpc>
              <a:buNone/>
            </a:pPr>
            <a:r>
              <a:rPr lang="en-US" sz="1700" dirty="0">
                <a:solidFill>
                  <a:srgbClr val="13263C"/>
                </a:solidFill>
                <a:latin typeface="Calibri" pitchFamily="34" charset="0"/>
                <a:ea typeface="Calibri" pitchFamily="34" charset="-122"/>
                <a:cs typeface="Calibri" pitchFamily="34" charset="-120"/>
              </a:rPr>
              <a:t>In the Push Model, the administrator sends configuration updates directly from the central management server to the client machines — instantly, without waiting for the client to ask.</a:t>
            </a:r>
            <a:endParaRPr lang="en-US" sz="1700" dirty="0"/>
          </a:p>
        </p:txBody>
      </p:sp>
      <p:sp>
        <p:nvSpPr>
          <p:cNvPr id="6" name="Shape 4"/>
          <p:cNvSpPr/>
          <p:nvPr/>
        </p:nvSpPr>
        <p:spPr>
          <a:xfrm>
            <a:off x="548640" y="3063240"/>
            <a:ext cx="5394960" cy="3063240"/>
          </a:xfrm>
          <a:prstGeom prst="roundRect">
            <a:avLst>
              <a:gd name="adj" fmla="val 3582"/>
            </a:avLst>
          </a:prstGeom>
          <a:solidFill>
            <a:srgbClr val="EAF3FC"/>
          </a:solidFill>
          <a:ln/>
          <a:effectLst>
            <a:outerShdw blurRad="76200" dist="25400" dir="5400000" algn="bl" rotWithShape="0">
              <a:srgbClr val="3A5A80">
                <a:alpha val="18000"/>
              </a:srgbClr>
            </a:outerShdw>
          </a:effectLst>
        </p:spPr>
      </p:sp>
      <p:sp>
        <p:nvSpPr>
          <p:cNvPr id="7" name="Text 5"/>
          <p:cNvSpPr/>
          <p:nvPr/>
        </p:nvSpPr>
        <p:spPr>
          <a:xfrm>
            <a:off x="822960" y="3246120"/>
            <a:ext cx="4846320" cy="365760"/>
          </a:xfrm>
          <a:prstGeom prst="rect">
            <a:avLst/>
          </a:prstGeom>
          <a:noFill/>
          <a:ln/>
        </p:spPr>
        <p:txBody>
          <a:bodyPr wrap="square" rtlCol="0" anchor="ctr"/>
          <a:lstStyle/>
          <a:p>
            <a:pPr marL="0" indent="0">
              <a:buNone/>
            </a:pPr>
            <a:r>
              <a:rPr lang="en-US" sz="1800" b="1" dirty="0">
                <a:solidFill>
                  <a:srgbClr val="0B3C6D"/>
                </a:solidFill>
                <a:latin typeface="Calibri" pitchFamily="34" charset="0"/>
                <a:ea typeface="Calibri" pitchFamily="34" charset="-122"/>
                <a:cs typeface="Calibri" pitchFamily="34" charset="-120"/>
              </a:rPr>
              <a:t>Why is it used?</a:t>
            </a:r>
            <a:endParaRPr lang="en-US" sz="1800" dirty="0"/>
          </a:p>
        </p:txBody>
      </p:sp>
      <p:sp>
        <p:nvSpPr>
          <p:cNvPr id="8" name="Text 6"/>
          <p:cNvSpPr/>
          <p:nvPr/>
        </p:nvSpPr>
        <p:spPr>
          <a:xfrm>
            <a:off x="868680" y="3703320"/>
            <a:ext cx="4846320" cy="914400"/>
          </a:xfrm>
          <a:prstGeom prst="rect">
            <a:avLst/>
          </a:prstGeom>
          <a:noFill/>
          <a:ln/>
        </p:spPr>
        <p:txBody>
          <a:bodyPr wrap="square" rtlCol="0" anchor="ctr"/>
          <a:lstStyle/>
          <a:p>
            <a:pPr marL="0" indent="0">
              <a:lnSpc>
                <a:spcPct val="120000"/>
              </a:lnSpc>
              <a:buNone/>
            </a:pPr>
            <a:r>
              <a:rPr lang="en-US" sz="1600" dirty="0">
                <a:solidFill>
                  <a:srgbClr val="13263C"/>
                </a:solidFill>
                <a:latin typeface="Calibri" pitchFamily="34" charset="0"/>
                <a:ea typeface="Calibri" pitchFamily="34" charset="-122"/>
                <a:cs typeface="Calibri" pitchFamily="34" charset="-120"/>
              </a:rPr>
              <a:t>To apply changes immediately, without waiting for clients to check in on their own schedule.</a:t>
            </a:r>
            <a:endParaRPr lang="en-US" sz="1600" dirty="0"/>
          </a:p>
        </p:txBody>
      </p:sp>
      <p:sp>
        <p:nvSpPr>
          <p:cNvPr id="9" name="Shape 7"/>
          <p:cNvSpPr/>
          <p:nvPr/>
        </p:nvSpPr>
        <p:spPr>
          <a:xfrm>
            <a:off x="6245352" y="3063240"/>
            <a:ext cx="5394960" cy="3063240"/>
          </a:xfrm>
          <a:prstGeom prst="roundRect">
            <a:avLst>
              <a:gd name="adj" fmla="val 3582"/>
            </a:avLst>
          </a:prstGeom>
          <a:solidFill>
            <a:srgbClr val="EAF3FC"/>
          </a:solidFill>
          <a:ln/>
          <a:effectLst>
            <a:outerShdw blurRad="76200" dist="25400" dir="5400000" algn="bl" rotWithShape="0">
              <a:srgbClr val="3A5A80">
                <a:alpha val="18000"/>
              </a:srgbClr>
            </a:outerShdw>
          </a:effectLst>
        </p:spPr>
      </p:sp>
      <p:sp>
        <p:nvSpPr>
          <p:cNvPr id="10" name="Text 8"/>
          <p:cNvSpPr/>
          <p:nvPr/>
        </p:nvSpPr>
        <p:spPr>
          <a:xfrm>
            <a:off x="6519672" y="3246120"/>
            <a:ext cx="4846320" cy="365760"/>
          </a:xfrm>
          <a:prstGeom prst="rect">
            <a:avLst/>
          </a:prstGeom>
          <a:noFill/>
          <a:ln/>
        </p:spPr>
        <p:txBody>
          <a:bodyPr wrap="square" rtlCol="0" anchor="ctr"/>
          <a:lstStyle/>
          <a:p>
            <a:pPr marL="0" indent="0">
              <a:buNone/>
            </a:pPr>
            <a:r>
              <a:rPr lang="en-US" sz="1800" b="1" dirty="0">
                <a:solidFill>
                  <a:srgbClr val="0B3C6D"/>
                </a:solidFill>
                <a:latin typeface="Calibri" pitchFamily="34" charset="0"/>
                <a:ea typeface="Calibri" pitchFamily="34" charset="-122"/>
                <a:cs typeface="Calibri" pitchFamily="34" charset="-120"/>
              </a:rPr>
              <a:t>When is it used?</a:t>
            </a:r>
            <a:endParaRPr lang="en-US" sz="1800" dirty="0"/>
          </a:p>
        </p:txBody>
      </p:sp>
      <p:sp>
        <p:nvSpPr>
          <p:cNvPr id="11" name="Text 9"/>
          <p:cNvSpPr/>
          <p:nvPr/>
        </p:nvSpPr>
        <p:spPr>
          <a:xfrm>
            <a:off x="6565392" y="3703320"/>
            <a:ext cx="4846320" cy="2286000"/>
          </a:xfrm>
          <a:prstGeom prst="rect">
            <a:avLst/>
          </a:prstGeom>
          <a:noFill/>
          <a:ln/>
        </p:spPr>
        <p:txBody>
          <a:bodyPr wrap="square" rtlCol="0" anchor="t"/>
          <a:lstStyle/>
          <a:p>
            <a:pPr marL="342900" indent="-342900" algn="l">
              <a:lnSpc>
                <a:spcPct val="108000"/>
              </a:lnSpc>
              <a:spcAft>
                <a:spcPts val="1400"/>
              </a:spcAft>
              <a:buSzPct val="100000"/>
              <a:buChar char="•"/>
            </a:pPr>
            <a:r>
              <a:rPr lang="en-US" sz="1600" dirty="0">
                <a:solidFill>
                  <a:srgbClr val="13263C"/>
                </a:solidFill>
                <a:latin typeface="Calibri" pitchFamily="34" charset="0"/>
                <a:ea typeface="Calibri" pitchFamily="34" charset="-122"/>
                <a:cs typeface="Calibri" pitchFamily="34" charset="-120"/>
              </a:rPr>
              <a:t>Emergency security patches</a:t>
            </a:r>
            <a:endParaRPr lang="en-US" sz="1600" dirty="0"/>
          </a:p>
          <a:p>
            <a:pPr marL="342900" indent="-342900" algn="l">
              <a:lnSpc>
                <a:spcPct val="108000"/>
              </a:lnSpc>
              <a:spcAft>
                <a:spcPts val="1400"/>
              </a:spcAft>
              <a:buSzPct val="100000"/>
              <a:buChar char="•"/>
            </a:pPr>
            <a:r>
              <a:rPr lang="en-US" sz="1600" dirty="0">
                <a:solidFill>
                  <a:srgbClr val="13263C"/>
                </a:solidFill>
                <a:latin typeface="Calibri" pitchFamily="34" charset="0"/>
                <a:ea typeface="Calibri" pitchFamily="34" charset="-122"/>
                <a:cs typeface="Calibri" pitchFamily="34" charset="-120"/>
              </a:rPr>
              <a:t>Immediate software updates</a:t>
            </a:r>
            <a:endParaRPr lang="en-US" sz="1600" dirty="0"/>
          </a:p>
          <a:p>
            <a:pPr marL="342900" indent="-342900" algn="l">
              <a:lnSpc>
                <a:spcPct val="108000"/>
              </a:lnSpc>
              <a:spcAft>
                <a:spcPts val="1400"/>
              </a:spcAft>
              <a:buSzPct val="100000"/>
              <a:buChar char="•"/>
            </a:pPr>
            <a:r>
              <a:rPr lang="en-US" sz="1600" dirty="0">
                <a:solidFill>
                  <a:srgbClr val="13263C"/>
                </a:solidFill>
                <a:latin typeface="Calibri" pitchFamily="34" charset="0"/>
                <a:ea typeface="Calibri" pitchFamily="34" charset="-122"/>
                <a:cs typeface="Calibri" pitchFamily="34" charset="-120"/>
              </a:rPr>
              <a:t>Critical configuration changes</a:t>
            </a:r>
            <a:endParaRPr lang="en-US" sz="1600" dirty="0"/>
          </a:p>
        </p:txBody>
      </p:sp>
      <p:sp>
        <p:nvSpPr>
          <p:cNvPr id="12" name="Text 10"/>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Push Model</a:t>
            </a:r>
            <a:endParaRPr lang="en-US" sz="1100" dirty="0"/>
          </a:p>
        </p:txBody>
      </p:sp>
      <p:sp>
        <p:nvSpPr>
          <p:cNvPr id="13" name="Text 11"/>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Push Model — How It Works</a:t>
            </a:r>
            <a:endParaRPr lang="en-US" sz="3400" dirty="0"/>
          </a:p>
        </p:txBody>
      </p:sp>
      <p:sp>
        <p:nvSpPr>
          <p:cNvPr id="3" name="Text 1"/>
          <p:cNvSpPr/>
          <p:nvPr/>
        </p:nvSpPr>
        <p:spPr>
          <a:xfrm>
            <a:off x="548640" y="987552"/>
            <a:ext cx="11091672" cy="365760"/>
          </a:xfrm>
          <a:prstGeom prst="rect">
            <a:avLst/>
          </a:prstGeom>
          <a:noFill/>
          <a:ln/>
        </p:spPr>
        <p:txBody>
          <a:bodyPr wrap="square" rtlCol="0" anchor="ctr"/>
          <a:lstStyle/>
          <a:p>
            <a:pPr marL="0" indent="0" algn="l">
              <a:buNone/>
            </a:pPr>
            <a:r>
              <a:rPr lang="en-US" sz="1600" i="1" dirty="0">
                <a:solidFill>
                  <a:srgbClr val="2E86DE"/>
                </a:solidFill>
                <a:latin typeface="Calibri" pitchFamily="34" charset="0"/>
                <a:ea typeface="Calibri" pitchFamily="34" charset="-122"/>
                <a:cs typeface="Calibri" pitchFamily="34" charset="-120"/>
              </a:rPr>
              <a:t>Step-by-step sequence</a:t>
            </a:r>
            <a:endParaRPr lang="en-US" sz="1600" dirty="0"/>
          </a:p>
        </p:txBody>
      </p:sp>
      <p:sp>
        <p:nvSpPr>
          <p:cNvPr id="4" name="Shape 2"/>
          <p:cNvSpPr/>
          <p:nvPr/>
        </p:nvSpPr>
        <p:spPr>
          <a:xfrm>
            <a:off x="598459" y="2081678"/>
            <a:ext cx="2011680" cy="822960"/>
          </a:xfrm>
          <a:prstGeom prst="roundRect">
            <a:avLst>
              <a:gd name="adj" fmla="val 11111"/>
            </a:avLst>
          </a:prstGeom>
          <a:solidFill>
            <a:srgbClr val="0B3C6D"/>
          </a:solidFill>
          <a:ln/>
          <a:effectLst>
            <a:outerShdw blurRad="63500" dist="25400" dir="5400000" algn="bl" rotWithShape="0">
              <a:srgbClr val="3A5A80">
                <a:alpha val="18000"/>
              </a:srgbClr>
            </a:outerShdw>
          </a:effectLst>
        </p:spPr>
        <p:txBody>
          <a:bodyPr/>
          <a:lstStyle/>
          <a:p>
            <a:endParaRPr lang="en-IN" dirty="0"/>
          </a:p>
        </p:txBody>
      </p:sp>
      <p:sp>
        <p:nvSpPr>
          <p:cNvPr id="5" name="Text 3"/>
          <p:cNvSpPr/>
          <p:nvPr/>
        </p:nvSpPr>
        <p:spPr>
          <a:xfrm>
            <a:off x="795528" y="2029968"/>
            <a:ext cx="1865376" cy="822960"/>
          </a:xfrm>
          <a:prstGeom prst="rect">
            <a:avLst/>
          </a:prstGeom>
          <a:noFill/>
          <a:ln/>
        </p:spPr>
        <p:txBody>
          <a:bodyPr wrap="square" rtlCol="0" anchor="ctr"/>
          <a:lstStyle/>
          <a:p>
            <a:pPr marL="0" indent="0" algn="ctr">
              <a:lnSpc>
                <a:spcPct val="100000"/>
              </a:lnSpc>
              <a:buNone/>
            </a:pPr>
            <a:r>
              <a:rPr lang="en-US" sz="1450" b="1" dirty="0">
                <a:solidFill>
                  <a:srgbClr val="FFFFFF"/>
                </a:solidFill>
                <a:latin typeface="Calibri" pitchFamily="34" charset="0"/>
                <a:ea typeface="Calibri" pitchFamily="34" charset="-122"/>
                <a:cs typeface="Calibri" pitchFamily="34" charset="-120"/>
              </a:rPr>
              <a:t>Management</a:t>
            </a:r>
            <a:endParaRPr lang="en-US" sz="1450" dirty="0"/>
          </a:p>
          <a:p>
            <a:pPr marL="0" indent="0" algn="ctr">
              <a:lnSpc>
                <a:spcPct val="100000"/>
              </a:lnSpc>
              <a:buNone/>
            </a:pPr>
            <a:r>
              <a:rPr lang="en-US" sz="1450" b="1" dirty="0">
                <a:solidFill>
                  <a:srgbClr val="FFFFFF"/>
                </a:solidFill>
                <a:latin typeface="Calibri" pitchFamily="34" charset="0"/>
                <a:ea typeface="Calibri" pitchFamily="34" charset="-122"/>
                <a:cs typeface="Calibri" pitchFamily="34" charset="-120"/>
              </a:rPr>
              <a:t>Server (Admin)</a:t>
            </a:r>
            <a:endParaRPr lang="en-US" sz="1450" dirty="0"/>
          </a:p>
        </p:txBody>
      </p:sp>
      <p:sp>
        <p:nvSpPr>
          <p:cNvPr id="6" name="Shape 4"/>
          <p:cNvSpPr/>
          <p:nvPr/>
        </p:nvSpPr>
        <p:spPr>
          <a:xfrm>
            <a:off x="9720072" y="2011680"/>
            <a:ext cx="2011680" cy="822960"/>
          </a:xfrm>
          <a:prstGeom prst="roundRect">
            <a:avLst>
              <a:gd name="adj" fmla="val 11111"/>
            </a:avLst>
          </a:prstGeom>
          <a:solidFill>
            <a:srgbClr val="2E86DE"/>
          </a:solidFill>
          <a:ln/>
          <a:effectLst>
            <a:outerShdw blurRad="63500" dist="25400" dir="5400000" algn="bl" rotWithShape="0">
              <a:srgbClr val="3A5A80">
                <a:alpha val="18000"/>
              </a:srgbClr>
            </a:outerShdw>
          </a:effectLst>
        </p:spPr>
      </p:sp>
      <p:sp>
        <p:nvSpPr>
          <p:cNvPr id="7" name="Text 5"/>
          <p:cNvSpPr/>
          <p:nvPr/>
        </p:nvSpPr>
        <p:spPr>
          <a:xfrm>
            <a:off x="9646920" y="2029968"/>
            <a:ext cx="1865376" cy="822960"/>
          </a:xfrm>
          <a:prstGeom prst="rect">
            <a:avLst/>
          </a:prstGeom>
          <a:noFill/>
          <a:ln/>
        </p:spPr>
        <p:txBody>
          <a:bodyPr wrap="square" rtlCol="0" anchor="ctr"/>
          <a:lstStyle/>
          <a:p>
            <a:pPr marL="0" indent="0" algn="ctr">
              <a:lnSpc>
                <a:spcPct val="100000"/>
              </a:lnSpc>
              <a:buNone/>
            </a:pPr>
            <a:r>
              <a:rPr lang="en-US" sz="1450" b="1" dirty="0">
                <a:solidFill>
                  <a:srgbClr val="FFFFFF"/>
                </a:solidFill>
                <a:latin typeface="Calibri" pitchFamily="34" charset="0"/>
                <a:ea typeface="Calibri" pitchFamily="34" charset="-122"/>
                <a:cs typeface="Calibri" pitchFamily="34" charset="-120"/>
              </a:rPr>
              <a:t>Client</a:t>
            </a:r>
            <a:endParaRPr lang="en-US" sz="1450" dirty="0"/>
          </a:p>
          <a:p>
            <a:pPr marL="0" indent="0" algn="ctr">
              <a:lnSpc>
                <a:spcPct val="100000"/>
              </a:lnSpc>
              <a:buNone/>
            </a:pPr>
            <a:r>
              <a:rPr lang="en-US" sz="1450" b="1" dirty="0">
                <a:solidFill>
                  <a:srgbClr val="FFFFFF"/>
                </a:solidFill>
                <a:latin typeface="Calibri" pitchFamily="34" charset="0"/>
                <a:ea typeface="Calibri" pitchFamily="34" charset="-122"/>
                <a:cs typeface="Calibri" pitchFamily="34" charset="-120"/>
              </a:rPr>
              <a:t>Machines</a:t>
            </a:r>
            <a:endParaRPr lang="en-US" sz="1450" dirty="0"/>
          </a:p>
        </p:txBody>
      </p:sp>
      <p:sp>
        <p:nvSpPr>
          <p:cNvPr id="8" name="Shape 6"/>
          <p:cNvSpPr/>
          <p:nvPr/>
        </p:nvSpPr>
        <p:spPr>
          <a:xfrm>
            <a:off x="2587752" y="2441448"/>
            <a:ext cx="7132320" cy="0"/>
          </a:xfrm>
          <a:prstGeom prst="line">
            <a:avLst/>
          </a:prstGeom>
          <a:noFill/>
          <a:ln w="38100">
            <a:solidFill>
              <a:srgbClr val="0B3C6D"/>
            </a:solidFill>
            <a:prstDash val="solid"/>
            <a:tailEnd type="triangle"/>
          </a:ln>
        </p:spPr>
      </p:sp>
      <p:sp>
        <p:nvSpPr>
          <p:cNvPr id="9" name="Text 7"/>
          <p:cNvSpPr/>
          <p:nvPr/>
        </p:nvSpPr>
        <p:spPr>
          <a:xfrm>
            <a:off x="2478024" y="1920240"/>
            <a:ext cx="6949440" cy="365760"/>
          </a:xfrm>
          <a:prstGeom prst="rect">
            <a:avLst/>
          </a:prstGeom>
          <a:noFill/>
          <a:ln/>
        </p:spPr>
        <p:txBody>
          <a:bodyPr wrap="square" rtlCol="0" anchor="ctr"/>
          <a:lstStyle/>
          <a:p>
            <a:pPr marL="0" indent="0" algn="ctr">
              <a:buNone/>
            </a:pPr>
            <a:r>
              <a:rPr lang="en-US" i="1" dirty="0">
                <a:solidFill>
                  <a:srgbClr val="5B6B7C"/>
                </a:solidFill>
                <a:latin typeface="Calibri" pitchFamily="34" charset="0"/>
                <a:ea typeface="Calibri" pitchFamily="34" charset="-122"/>
                <a:cs typeface="Calibri" pitchFamily="34" charset="-120"/>
              </a:rPr>
              <a:t>Admin selects target servers and pushes configuration instantly</a:t>
            </a:r>
            <a:endParaRPr lang="en-US" dirty="0"/>
          </a:p>
        </p:txBody>
      </p:sp>
      <p:sp>
        <p:nvSpPr>
          <p:cNvPr id="10" name="Text 8"/>
          <p:cNvSpPr/>
          <p:nvPr/>
        </p:nvSpPr>
        <p:spPr>
          <a:xfrm>
            <a:off x="2610139" y="2736895"/>
            <a:ext cx="6949440" cy="365760"/>
          </a:xfrm>
          <a:prstGeom prst="rect">
            <a:avLst/>
          </a:prstGeom>
          <a:noFill/>
          <a:ln/>
        </p:spPr>
        <p:txBody>
          <a:bodyPr wrap="square" rtlCol="0" anchor="ctr"/>
          <a:lstStyle/>
          <a:p>
            <a:pPr marL="0" indent="0" algn="ctr">
              <a:buNone/>
            </a:pPr>
            <a:r>
              <a:rPr lang="en-US" i="1" dirty="0">
                <a:solidFill>
                  <a:srgbClr val="5B6B7C"/>
                </a:solidFill>
                <a:latin typeface="Calibri" pitchFamily="34" charset="0"/>
                <a:ea typeface="Calibri" pitchFamily="34" charset="-122"/>
                <a:cs typeface="Calibri" pitchFamily="34" charset="-120"/>
              </a:rPr>
              <a:t>Applied immediately — no waiting, no polling</a:t>
            </a:r>
            <a:endParaRPr lang="en-US" dirty="0"/>
          </a:p>
        </p:txBody>
      </p:sp>
      <p:sp>
        <p:nvSpPr>
          <p:cNvPr id="11" name="Shape 9"/>
          <p:cNvSpPr/>
          <p:nvPr/>
        </p:nvSpPr>
        <p:spPr>
          <a:xfrm>
            <a:off x="548640" y="3474720"/>
            <a:ext cx="11091672" cy="2743200"/>
          </a:xfrm>
          <a:prstGeom prst="roundRect">
            <a:avLst>
              <a:gd name="adj" fmla="val 4000"/>
            </a:avLst>
          </a:prstGeom>
          <a:solidFill>
            <a:srgbClr val="D6E9FA"/>
          </a:solidFill>
          <a:ln/>
          <a:effectLst>
            <a:outerShdw blurRad="76200" dist="25400" dir="5400000" algn="bl" rotWithShape="0">
              <a:srgbClr val="3A5A80">
                <a:alpha val="18000"/>
              </a:srgbClr>
            </a:outerShdw>
          </a:effectLst>
        </p:spPr>
      </p:sp>
      <p:sp>
        <p:nvSpPr>
          <p:cNvPr id="12" name="Text 10"/>
          <p:cNvSpPr/>
          <p:nvPr/>
        </p:nvSpPr>
        <p:spPr>
          <a:xfrm>
            <a:off x="868680" y="3639312"/>
            <a:ext cx="5486400" cy="320040"/>
          </a:xfrm>
          <a:prstGeom prst="rect">
            <a:avLst/>
          </a:prstGeom>
          <a:noFill/>
          <a:ln/>
        </p:spPr>
        <p:txBody>
          <a:bodyPr wrap="square" rtlCol="0" anchor="ctr"/>
          <a:lstStyle/>
          <a:p>
            <a:pPr marL="0" indent="0">
              <a:buNone/>
            </a:pPr>
            <a:r>
              <a:rPr lang="en-US" sz="1600" b="1" dirty="0">
                <a:solidFill>
                  <a:srgbClr val="0B3C6D"/>
                </a:solidFill>
                <a:latin typeface="Calibri" pitchFamily="34" charset="0"/>
                <a:ea typeface="Calibri" pitchFamily="34" charset="-122"/>
                <a:cs typeface="Calibri" pitchFamily="34" charset="-120"/>
              </a:rPr>
              <a:t>Sequence Recap</a:t>
            </a:r>
            <a:endParaRPr lang="en-US" sz="1600" dirty="0"/>
          </a:p>
        </p:txBody>
      </p:sp>
      <p:sp>
        <p:nvSpPr>
          <p:cNvPr id="13" name="Text 11"/>
          <p:cNvSpPr/>
          <p:nvPr/>
        </p:nvSpPr>
        <p:spPr>
          <a:xfrm>
            <a:off x="868680" y="3977640"/>
            <a:ext cx="10424160" cy="2103120"/>
          </a:xfrm>
          <a:prstGeom prst="rect">
            <a:avLst/>
          </a:prstGeom>
          <a:noFill/>
          <a:ln/>
        </p:spPr>
        <p:txBody>
          <a:bodyPr wrap="square" rtlCol="0" anchor="t"/>
          <a:lstStyle/>
          <a:p>
            <a:pPr marL="342900" indent="-342900" algn="l">
              <a:lnSpc>
                <a:spcPct val="108000"/>
              </a:lnSpc>
              <a:spcAft>
                <a:spcPts val="1000"/>
              </a:spcAft>
              <a:buSzPct val="100000"/>
              <a:buChar char="•"/>
            </a:pPr>
            <a:r>
              <a:rPr lang="en-US" sz="1550" dirty="0">
                <a:solidFill>
                  <a:srgbClr val="13263C"/>
                </a:solidFill>
                <a:latin typeface="Calibri" pitchFamily="34" charset="0"/>
                <a:ea typeface="Calibri" pitchFamily="34" charset="-122"/>
                <a:cs typeface="Calibri" pitchFamily="34" charset="-120"/>
              </a:rPr>
              <a:t>The administrator selects which target servers should receive the update.</a:t>
            </a:r>
            <a:endParaRPr lang="en-US" sz="1550" dirty="0"/>
          </a:p>
          <a:p>
            <a:pPr marL="342900" indent="-342900" algn="l">
              <a:lnSpc>
                <a:spcPct val="108000"/>
              </a:lnSpc>
              <a:spcAft>
                <a:spcPts val="1000"/>
              </a:spcAft>
              <a:buSzPct val="100000"/>
              <a:buChar char="•"/>
            </a:pPr>
            <a:r>
              <a:rPr lang="en-US" sz="1550" dirty="0">
                <a:solidFill>
                  <a:srgbClr val="13263C"/>
                </a:solidFill>
                <a:latin typeface="Calibri" pitchFamily="34" charset="0"/>
                <a:ea typeface="Calibri" pitchFamily="34" charset="-122"/>
                <a:cs typeface="Calibri" pitchFamily="34" charset="-120"/>
              </a:rPr>
              <a:t>The management server pushes the new configuration to those servers directly.</a:t>
            </a:r>
            <a:endParaRPr lang="en-US" sz="1550" dirty="0"/>
          </a:p>
          <a:p>
            <a:pPr marL="342900" indent="-342900" algn="l">
              <a:lnSpc>
                <a:spcPct val="108000"/>
              </a:lnSpc>
              <a:spcAft>
                <a:spcPts val="1000"/>
              </a:spcAft>
              <a:buSzPct val="100000"/>
              <a:buChar char="•"/>
            </a:pPr>
            <a:r>
              <a:rPr lang="en-US" sz="1550" dirty="0">
                <a:solidFill>
                  <a:srgbClr val="13263C"/>
                </a:solidFill>
                <a:latin typeface="Calibri" pitchFamily="34" charset="0"/>
                <a:ea typeface="Calibri" pitchFamily="34" charset="-122"/>
                <a:cs typeface="Calibri" pitchFamily="34" charset="-120"/>
              </a:rPr>
              <a:t>Every targeted client applies the change immediately — it does not check for or request it.</a:t>
            </a:r>
            <a:endParaRPr lang="en-US" sz="1550" dirty="0"/>
          </a:p>
          <a:p>
            <a:pPr marL="342900" indent="-342900" algn="l">
              <a:lnSpc>
                <a:spcPct val="108000"/>
              </a:lnSpc>
              <a:spcAft>
                <a:spcPts val="1000"/>
              </a:spcAft>
              <a:buSzPct val="100000"/>
              <a:buChar char="•"/>
            </a:pPr>
            <a:r>
              <a:rPr lang="en-US" sz="1550" dirty="0">
                <a:solidFill>
                  <a:srgbClr val="13263C"/>
                </a:solidFill>
                <a:latin typeface="Calibri" pitchFamily="34" charset="0"/>
                <a:ea typeface="Calibri" pitchFamily="34" charset="-122"/>
                <a:cs typeface="Calibri" pitchFamily="34" charset="-120"/>
              </a:rPr>
              <a:t>Ideal when speed matters more than the client's own schedule (e.g. a critical patch).</a:t>
            </a:r>
            <a:endParaRPr lang="en-US" sz="1550" dirty="0"/>
          </a:p>
        </p:txBody>
      </p:sp>
      <p:sp>
        <p:nvSpPr>
          <p:cNvPr id="14" name="Text 12"/>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Push Model</a:t>
            </a:r>
            <a:endParaRPr lang="en-US" sz="1100" dirty="0"/>
          </a:p>
        </p:txBody>
      </p:sp>
      <p:sp>
        <p:nvSpPr>
          <p:cNvPr id="15" name="Text 13"/>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Push Model — Real-Time Example</a:t>
            </a:r>
            <a:endParaRPr lang="en-US" sz="3400" dirty="0"/>
          </a:p>
        </p:txBody>
      </p:sp>
      <p:sp>
        <p:nvSpPr>
          <p:cNvPr id="3" name="Text 1"/>
          <p:cNvSpPr/>
          <p:nvPr/>
        </p:nvSpPr>
        <p:spPr>
          <a:xfrm>
            <a:off x="548640" y="987552"/>
            <a:ext cx="11091672" cy="365760"/>
          </a:xfrm>
          <a:prstGeom prst="rect">
            <a:avLst/>
          </a:prstGeom>
          <a:noFill/>
          <a:ln/>
        </p:spPr>
        <p:txBody>
          <a:bodyPr wrap="square" rtlCol="0" anchor="ctr"/>
          <a:lstStyle/>
          <a:p>
            <a:pPr marL="0" indent="0" algn="l">
              <a:buNone/>
            </a:pPr>
            <a:r>
              <a:rPr lang="en-US" sz="1600" i="1" dirty="0">
                <a:solidFill>
                  <a:srgbClr val="2E86DE"/>
                </a:solidFill>
                <a:latin typeface="Calibri" pitchFamily="34" charset="0"/>
                <a:ea typeface="Calibri" pitchFamily="34" charset="-122"/>
                <a:cs typeface="Calibri" pitchFamily="34" charset="-120"/>
              </a:rPr>
              <a:t>A teacher sending an assignment instantly</a:t>
            </a:r>
            <a:endParaRPr lang="en-US" sz="1600" dirty="0"/>
          </a:p>
        </p:txBody>
      </p:sp>
      <p:sp>
        <p:nvSpPr>
          <p:cNvPr id="4" name="Shape 2"/>
          <p:cNvSpPr/>
          <p:nvPr/>
        </p:nvSpPr>
        <p:spPr>
          <a:xfrm>
            <a:off x="548640" y="1691640"/>
            <a:ext cx="6400800" cy="4480560"/>
          </a:xfrm>
          <a:prstGeom prst="roundRect">
            <a:avLst>
              <a:gd name="adj" fmla="val 2449"/>
            </a:avLst>
          </a:prstGeom>
          <a:solidFill>
            <a:srgbClr val="D6E9FA"/>
          </a:solidFill>
          <a:ln/>
          <a:effectLst>
            <a:outerShdw blurRad="76200" dist="25400" dir="5400000" algn="bl" rotWithShape="0">
              <a:srgbClr val="3A5A80">
                <a:alpha val="18000"/>
              </a:srgbClr>
            </a:outerShdw>
          </a:effectLst>
        </p:spPr>
      </p:sp>
      <p:sp>
        <p:nvSpPr>
          <p:cNvPr id="5" name="Text 3"/>
          <p:cNvSpPr/>
          <p:nvPr/>
        </p:nvSpPr>
        <p:spPr>
          <a:xfrm>
            <a:off x="868680" y="1874520"/>
            <a:ext cx="5760720" cy="822960"/>
          </a:xfrm>
          <a:prstGeom prst="rect">
            <a:avLst/>
          </a:prstGeom>
          <a:noFill/>
          <a:ln/>
        </p:spPr>
        <p:txBody>
          <a:bodyPr wrap="square" rtlCol="0" anchor="ctr"/>
          <a:lstStyle/>
          <a:p>
            <a:pPr marL="0" indent="0">
              <a:lnSpc>
                <a:spcPct val="120000"/>
              </a:lnSpc>
              <a:buNone/>
            </a:pPr>
            <a:r>
              <a:rPr lang="en-US" sz="1700" b="1" dirty="0">
                <a:solidFill>
                  <a:srgbClr val="0B3C6D"/>
                </a:solidFill>
                <a:latin typeface="Calibri" pitchFamily="34" charset="0"/>
                <a:ea typeface="Calibri" pitchFamily="34" charset="-122"/>
                <a:cs typeface="Calibri" pitchFamily="34" charset="-120"/>
              </a:rPr>
              <a:t>A teacher sends an assignment to all students through a classroom app. Students receive it immediately, without checking for it themselves.</a:t>
            </a:r>
            <a:endParaRPr lang="en-US" sz="1700" dirty="0"/>
          </a:p>
        </p:txBody>
      </p:sp>
      <p:sp>
        <p:nvSpPr>
          <p:cNvPr id="6" name="Text 4"/>
          <p:cNvSpPr/>
          <p:nvPr/>
        </p:nvSpPr>
        <p:spPr>
          <a:xfrm>
            <a:off x="868680" y="2697480"/>
            <a:ext cx="5760720" cy="3383280"/>
          </a:xfrm>
          <a:prstGeom prst="rect">
            <a:avLst/>
          </a:prstGeom>
          <a:noFill/>
          <a:ln/>
        </p:spPr>
        <p:txBody>
          <a:bodyPr wrap="square" rtlCol="0" anchor="t"/>
          <a:lstStyle/>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The teacher (admin) decides exactly when to send it, and to which class (target servers).</a:t>
            </a:r>
            <a:endParaRPr lang="en-US" sz="1550" dirty="0"/>
          </a:p>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The moment it's sent, every student's app shows a notification instantly.</a:t>
            </a:r>
            <a:endParaRPr lang="en-US" sz="1550" dirty="0"/>
          </a:p>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Students don't need to refresh or check — the content arrives on its own.</a:t>
            </a:r>
            <a:endParaRPr lang="en-US" sz="1550" dirty="0"/>
          </a:p>
          <a:p>
            <a:pPr marL="342900" indent="-342900" algn="l">
              <a:lnSpc>
                <a:spcPct val="108000"/>
              </a:lnSpc>
              <a:spcAft>
                <a:spcPts val="1400"/>
              </a:spcAft>
              <a:buSzPct val="100000"/>
              <a:buChar char="•"/>
            </a:pPr>
            <a:r>
              <a:rPr lang="en-US" sz="1550" dirty="0">
                <a:solidFill>
                  <a:srgbClr val="13263C"/>
                </a:solidFill>
                <a:latin typeface="Calibri" pitchFamily="34" charset="0"/>
                <a:ea typeface="Calibri" pitchFamily="34" charset="-122"/>
                <a:cs typeface="Calibri" pitchFamily="34" charset="-120"/>
              </a:rPr>
              <a:t>This mirrors Push CM: the server initiates delivery; the client just receives and applies it.</a:t>
            </a:r>
            <a:endParaRPr lang="en-US" sz="1550" dirty="0"/>
          </a:p>
        </p:txBody>
      </p:sp>
      <p:sp>
        <p:nvSpPr>
          <p:cNvPr id="7" name="Shape 5"/>
          <p:cNvSpPr/>
          <p:nvPr/>
        </p:nvSpPr>
        <p:spPr>
          <a:xfrm>
            <a:off x="8321040" y="1783080"/>
            <a:ext cx="2377440" cy="685800"/>
          </a:xfrm>
          <a:prstGeom prst="roundRect">
            <a:avLst>
              <a:gd name="adj" fmla="val 13333"/>
            </a:avLst>
          </a:prstGeom>
          <a:solidFill>
            <a:srgbClr val="0B3C6D"/>
          </a:solidFill>
          <a:ln/>
          <a:effectLst>
            <a:outerShdw blurRad="63500" dist="25400" dir="5400000" algn="bl" rotWithShape="0">
              <a:srgbClr val="3A5A80">
                <a:alpha val="18000"/>
              </a:srgbClr>
            </a:outerShdw>
          </a:effectLst>
        </p:spPr>
      </p:sp>
      <p:sp>
        <p:nvSpPr>
          <p:cNvPr id="8" name="Text 6"/>
          <p:cNvSpPr/>
          <p:nvPr/>
        </p:nvSpPr>
        <p:spPr>
          <a:xfrm>
            <a:off x="8394192" y="1783080"/>
            <a:ext cx="2231136" cy="685800"/>
          </a:xfrm>
          <a:prstGeom prst="rect">
            <a:avLst/>
          </a:prstGeom>
          <a:noFill/>
          <a:ln/>
        </p:spPr>
        <p:txBody>
          <a:bodyPr wrap="square" rtlCol="0" anchor="ctr"/>
          <a:lstStyle/>
          <a:p>
            <a:pPr marL="0" indent="0" algn="ctr">
              <a:lnSpc>
                <a:spcPct val="100000"/>
              </a:lnSpc>
              <a:buNone/>
            </a:pPr>
            <a:r>
              <a:rPr lang="en-US" sz="1350" b="1" dirty="0">
                <a:solidFill>
                  <a:srgbClr val="FFFFFF"/>
                </a:solidFill>
                <a:latin typeface="Calibri" pitchFamily="34" charset="0"/>
                <a:ea typeface="Calibri" pitchFamily="34" charset="-122"/>
                <a:cs typeface="Calibri" pitchFamily="34" charset="-120"/>
              </a:rPr>
              <a:t>Teacher</a:t>
            </a:r>
            <a:endParaRPr lang="en-US" sz="1350" dirty="0"/>
          </a:p>
          <a:p>
            <a:pPr marL="0" indent="0" algn="ctr">
              <a:lnSpc>
                <a:spcPct val="100000"/>
              </a:lnSpc>
              <a:buNone/>
            </a:pPr>
            <a:r>
              <a:rPr lang="en-US" sz="1350" b="1" dirty="0">
                <a:solidFill>
                  <a:srgbClr val="FFFFFF"/>
                </a:solidFill>
                <a:latin typeface="Calibri" pitchFamily="34" charset="0"/>
                <a:ea typeface="Calibri" pitchFamily="34" charset="-122"/>
                <a:cs typeface="Calibri" pitchFamily="34" charset="-120"/>
              </a:rPr>
              <a:t>(Admin / Server)</a:t>
            </a:r>
            <a:endParaRPr lang="en-US" sz="1350" dirty="0"/>
          </a:p>
        </p:txBody>
      </p:sp>
      <p:sp>
        <p:nvSpPr>
          <p:cNvPr id="9" name="Shape 7"/>
          <p:cNvSpPr/>
          <p:nvPr/>
        </p:nvSpPr>
        <p:spPr>
          <a:xfrm>
            <a:off x="7360920" y="4114800"/>
            <a:ext cx="1554480" cy="685800"/>
          </a:xfrm>
          <a:prstGeom prst="roundRect">
            <a:avLst>
              <a:gd name="adj" fmla="val 13333"/>
            </a:avLst>
          </a:prstGeom>
          <a:solidFill>
            <a:srgbClr val="2E86DE"/>
          </a:solidFill>
          <a:ln/>
          <a:effectLst>
            <a:outerShdw blurRad="63500" dist="25400" dir="5400000" algn="bl" rotWithShape="0">
              <a:srgbClr val="3A5A80">
                <a:alpha val="18000"/>
              </a:srgbClr>
            </a:outerShdw>
          </a:effectLst>
        </p:spPr>
      </p:sp>
      <p:sp>
        <p:nvSpPr>
          <p:cNvPr id="10" name="Text 8"/>
          <p:cNvSpPr/>
          <p:nvPr/>
        </p:nvSpPr>
        <p:spPr>
          <a:xfrm>
            <a:off x="7434072" y="4114800"/>
            <a:ext cx="1408176" cy="68580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Student</a:t>
            </a:r>
            <a:endParaRPr lang="en-US" sz="1250" dirty="0"/>
          </a:p>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Device</a:t>
            </a:r>
            <a:endParaRPr lang="en-US" sz="1250" dirty="0"/>
          </a:p>
        </p:txBody>
      </p:sp>
      <p:sp>
        <p:nvSpPr>
          <p:cNvPr id="11" name="Shape 9"/>
          <p:cNvSpPr/>
          <p:nvPr/>
        </p:nvSpPr>
        <p:spPr>
          <a:xfrm>
            <a:off x="8942832" y="4114800"/>
            <a:ext cx="1554480" cy="685800"/>
          </a:xfrm>
          <a:prstGeom prst="roundRect">
            <a:avLst>
              <a:gd name="adj" fmla="val 13333"/>
            </a:avLst>
          </a:prstGeom>
          <a:solidFill>
            <a:srgbClr val="2E86DE"/>
          </a:solidFill>
          <a:ln/>
          <a:effectLst>
            <a:outerShdw blurRad="63500" dist="25400" dir="5400000" algn="bl" rotWithShape="0">
              <a:srgbClr val="3A5A80">
                <a:alpha val="18000"/>
              </a:srgbClr>
            </a:outerShdw>
          </a:effectLst>
        </p:spPr>
      </p:sp>
      <p:sp>
        <p:nvSpPr>
          <p:cNvPr id="12" name="Text 10"/>
          <p:cNvSpPr/>
          <p:nvPr/>
        </p:nvSpPr>
        <p:spPr>
          <a:xfrm>
            <a:off x="9015984" y="4114800"/>
            <a:ext cx="1408176" cy="68580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Student</a:t>
            </a:r>
            <a:endParaRPr lang="en-US" sz="1250" dirty="0"/>
          </a:p>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Device</a:t>
            </a:r>
            <a:endParaRPr lang="en-US" sz="1250" dirty="0"/>
          </a:p>
        </p:txBody>
      </p:sp>
      <p:sp>
        <p:nvSpPr>
          <p:cNvPr id="13" name="Shape 11"/>
          <p:cNvSpPr/>
          <p:nvPr/>
        </p:nvSpPr>
        <p:spPr>
          <a:xfrm>
            <a:off x="10524744" y="4114800"/>
            <a:ext cx="1554480" cy="685800"/>
          </a:xfrm>
          <a:prstGeom prst="roundRect">
            <a:avLst>
              <a:gd name="adj" fmla="val 13333"/>
            </a:avLst>
          </a:prstGeom>
          <a:solidFill>
            <a:srgbClr val="2E86DE"/>
          </a:solidFill>
          <a:ln/>
          <a:effectLst>
            <a:outerShdw blurRad="63500" dist="25400" dir="5400000" algn="bl" rotWithShape="0">
              <a:srgbClr val="3A5A80">
                <a:alpha val="18000"/>
              </a:srgbClr>
            </a:outerShdw>
          </a:effectLst>
        </p:spPr>
      </p:sp>
      <p:sp>
        <p:nvSpPr>
          <p:cNvPr id="14" name="Text 12"/>
          <p:cNvSpPr/>
          <p:nvPr/>
        </p:nvSpPr>
        <p:spPr>
          <a:xfrm>
            <a:off x="10597896" y="4114800"/>
            <a:ext cx="1408176" cy="68580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Student</a:t>
            </a:r>
            <a:endParaRPr lang="en-US" sz="1250" dirty="0"/>
          </a:p>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Device</a:t>
            </a:r>
            <a:endParaRPr lang="en-US" sz="1250" dirty="0"/>
          </a:p>
        </p:txBody>
      </p:sp>
      <p:sp>
        <p:nvSpPr>
          <p:cNvPr id="15" name="Shape 13"/>
          <p:cNvSpPr/>
          <p:nvPr/>
        </p:nvSpPr>
        <p:spPr>
          <a:xfrm>
            <a:off x="9509760" y="2468880"/>
            <a:ext cx="0" cy="740664"/>
          </a:xfrm>
          <a:prstGeom prst="line">
            <a:avLst/>
          </a:prstGeom>
          <a:noFill/>
          <a:ln w="28575">
            <a:solidFill>
              <a:srgbClr val="2E86DE"/>
            </a:solidFill>
            <a:prstDash val="solid"/>
          </a:ln>
        </p:spPr>
      </p:sp>
      <p:sp>
        <p:nvSpPr>
          <p:cNvPr id="16" name="Shape 14"/>
          <p:cNvSpPr/>
          <p:nvPr/>
        </p:nvSpPr>
        <p:spPr>
          <a:xfrm>
            <a:off x="8138160" y="3209544"/>
            <a:ext cx="3163824" cy="0"/>
          </a:xfrm>
          <a:prstGeom prst="line">
            <a:avLst/>
          </a:prstGeom>
          <a:noFill/>
          <a:ln w="28575">
            <a:solidFill>
              <a:srgbClr val="2E86DE"/>
            </a:solidFill>
            <a:prstDash val="solid"/>
          </a:ln>
        </p:spPr>
      </p:sp>
      <p:sp>
        <p:nvSpPr>
          <p:cNvPr id="17" name="Shape 15"/>
          <p:cNvSpPr/>
          <p:nvPr/>
        </p:nvSpPr>
        <p:spPr>
          <a:xfrm>
            <a:off x="8138160" y="3209544"/>
            <a:ext cx="0" cy="905256"/>
          </a:xfrm>
          <a:prstGeom prst="line">
            <a:avLst/>
          </a:prstGeom>
          <a:noFill/>
          <a:ln w="28575">
            <a:solidFill>
              <a:srgbClr val="2E86DE"/>
            </a:solidFill>
            <a:prstDash val="solid"/>
            <a:tailEnd type="triangle"/>
          </a:ln>
        </p:spPr>
      </p:sp>
      <p:sp>
        <p:nvSpPr>
          <p:cNvPr id="18" name="Shape 16"/>
          <p:cNvSpPr/>
          <p:nvPr/>
        </p:nvSpPr>
        <p:spPr>
          <a:xfrm>
            <a:off x="9720072" y="3209544"/>
            <a:ext cx="0" cy="905256"/>
          </a:xfrm>
          <a:prstGeom prst="line">
            <a:avLst/>
          </a:prstGeom>
          <a:noFill/>
          <a:ln w="28575">
            <a:solidFill>
              <a:srgbClr val="2E86DE"/>
            </a:solidFill>
            <a:prstDash val="solid"/>
            <a:tailEnd type="triangle"/>
          </a:ln>
        </p:spPr>
      </p:sp>
      <p:sp>
        <p:nvSpPr>
          <p:cNvPr id="19" name="Shape 17"/>
          <p:cNvSpPr/>
          <p:nvPr/>
        </p:nvSpPr>
        <p:spPr>
          <a:xfrm>
            <a:off x="11301984" y="3209544"/>
            <a:ext cx="0" cy="905256"/>
          </a:xfrm>
          <a:prstGeom prst="line">
            <a:avLst/>
          </a:prstGeom>
          <a:noFill/>
          <a:ln w="28575">
            <a:solidFill>
              <a:srgbClr val="2E86DE"/>
            </a:solidFill>
            <a:prstDash val="solid"/>
            <a:tailEnd type="triangle"/>
          </a:ln>
        </p:spPr>
      </p:sp>
      <p:sp>
        <p:nvSpPr>
          <p:cNvPr id="20" name="Text 18"/>
          <p:cNvSpPr/>
          <p:nvPr/>
        </p:nvSpPr>
        <p:spPr>
          <a:xfrm>
            <a:off x="7315200" y="4937760"/>
            <a:ext cx="4937760" cy="365760"/>
          </a:xfrm>
          <a:prstGeom prst="rect">
            <a:avLst/>
          </a:prstGeom>
          <a:noFill/>
          <a:ln/>
        </p:spPr>
        <p:txBody>
          <a:bodyPr wrap="square" rtlCol="0" anchor="ctr"/>
          <a:lstStyle/>
          <a:p>
            <a:pPr marL="0" indent="0" algn="ctr">
              <a:buNone/>
            </a:pPr>
            <a:r>
              <a:rPr lang="en-US" sz="1250" i="1" dirty="0">
                <a:solidFill>
                  <a:srgbClr val="5B6B7C"/>
                </a:solidFill>
                <a:latin typeface="Calibri" pitchFamily="34" charset="0"/>
                <a:ea typeface="Calibri" pitchFamily="34" charset="-122"/>
                <a:cs typeface="Calibri" pitchFamily="34" charset="-120"/>
              </a:rPr>
              <a:t>Instant, one-way delivery to all targets at once</a:t>
            </a:r>
            <a:endParaRPr lang="en-US" sz="1250" dirty="0"/>
          </a:p>
        </p:txBody>
      </p:sp>
      <p:sp>
        <p:nvSpPr>
          <p:cNvPr id="21" name="Text 19"/>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Push Model</a:t>
            </a:r>
            <a:endParaRPr lang="en-US" sz="1100" dirty="0"/>
          </a:p>
        </p:txBody>
      </p:sp>
      <p:sp>
        <p:nvSpPr>
          <p:cNvPr id="22" name="Text 20"/>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Push vs. Pull — Side-by-Side Comparison</a:t>
            </a:r>
            <a:endParaRPr lang="en-US" sz="3400" dirty="0"/>
          </a:p>
        </p:txBody>
      </p:sp>
      <p:sp>
        <p:nvSpPr>
          <p:cNvPr id="3" name="Shape 1"/>
          <p:cNvSpPr/>
          <p:nvPr/>
        </p:nvSpPr>
        <p:spPr>
          <a:xfrm>
            <a:off x="548640" y="1508760"/>
            <a:ext cx="2743200" cy="566928"/>
          </a:xfrm>
          <a:prstGeom prst="rect">
            <a:avLst/>
          </a:prstGeom>
          <a:solidFill>
            <a:srgbClr val="0B3C6D"/>
          </a:solidFill>
          <a:ln w="9525">
            <a:solidFill>
              <a:srgbClr val="C7DAF0"/>
            </a:solidFill>
            <a:prstDash val="solid"/>
          </a:ln>
        </p:spPr>
      </p:sp>
      <p:sp>
        <p:nvSpPr>
          <p:cNvPr id="4" name="Text 2"/>
          <p:cNvSpPr/>
          <p:nvPr/>
        </p:nvSpPr>
        <p:spPr>
          <a:xfrm>
            <a:off x="658368" y="1508760"/>
            <a:ext cx="2523744" cy="566928"/>
          </a:xfrm>
          <a:prstGeom prst="rect">
            <a:avLst/>
          </a:prstGeom>
          <a:noFill/>
          <a:ln/>
        </p:spPr>
        <p:txBody>
          <a:bodyPr wrap="square" rtlCol="0" anchor="ctr"/>
          <a:lstStyle/>
          <a:p>
            <a:pPr marL="0" indent="0" algn="l">
              <a:lnSpc>
                <a:spcPct val="100000"/>
              </a:lnSpc>
              <a:buNone/>
            </a:pPr>
            <a:r>
              <a:rPr lang="en-US" sz="1500" b="1" dirty="0">
                <a:solidFill>
                  <a:srgbClr val="FFFFFF"/>
                </a:solidFill>
                <a:latin typeface="Calibri" pitchFamily="34" charset="0"/>
                <a:ea typeface="Calibri" pitchFamily="34" charset="-122"/>
                <a:cs typeface="Calibri" pitchFamily="34" charset="-120"/>
              </a:rPr>
              <a:t>Aspect</a:t>
            </a:r>
            <a:endParaRPr lang="en-US" sz="1500" dirty="0"/>
          </a:p>
        </p:txBody>
      </p:sp>
      <p:sp>
        <p:nvSpPr>
          <p:cNvPr id="5" name="Shape 3"/>
          <p:cNvSpPr/>
          <p:nvPr/>
        </p:nvSpPr>
        <p:spPr>
          <a:xfrm>
            <a:off x="3291840" y="1508760"/>
            <a:ext cx="4389120" cy="566928"/>
          </a:xfrm>
          <a:prstGeom prst="rect">
            <a:avLst/>
          </a:prstGeom>
          <a:solidFill>
            <a:srgbClr val="0B3C6D"/>
          </a:solidFill>
          <a:ln w="9525">
            <a:solidFill>
              <a:srgbClr val="C7DAF0"/>
            </a:solidFill>
            <a:prstDash val="solid"/>
          </a:ln>
        </p:spPr>
      </p:sp>
      <p:sp>
        <p:nvSpPr>
          <p:cNvPr id="6" name="Text 4"/>
          <p:cNvSpPr/>
          <p:nvPr/>
        </p:nvSpPr>
        <p:spPr>
          <a:xfrm>
            <a:off x="3401568" y="1508760"/>
            <a:ext cx="4169664" cy="566928"/>
          </a:xfrm>
          <a:prstGeom prst="rect">
            <a:avLst/>
          </a:prstGeom>
          <a:noFill/>
          <a:ln/>
        </p:spPr>
        <p:txBody>
          <a:bodyPr wrap="square" rtlCol="0" anchor="ctr"/>
          <a:lstStyle/>
          <a:p>
            <a:pPr marL="0" indent="0" algn="l">
              <a:lnSpc>
                <a:spcPct val="100000"/>
              </a:lnSpc>
              <a:buNone/>
            </a:pPr>
            <a:r>
              <a:rPr lang="en-US" sz="1500" b="1" dirty="0">
                <a:solidFill>
                  <a:srgbClr val="FFFFFF"/>
                </a:solidFill>
                <a:latin typeface="Calibri" pitchFamily="34" charset="0"/>
                <a:ea typeface="Calibri" pitchFamily="34" charset="-122"/>
                <a:cs typeface="Calibri" pitchFamily="34" charset="-120"/>
              </a:rPr>
              <a:t>Push Model</a:t>
            </a:r>
            <a:endParaRPr lang="en-US" sz="1500" dirty="0"/>
          </a:p>
        </p:txBody>
      </p:sp>
      <p:sp>
        <p:nvSpPr>
          <p:cNvPr id="7" name="Shape 5"/>
          <p:cNvSpPr/>
          <p:nvPr/>
        </p:nvSpPr>
        <p:spPr>
          <a:xfrm>
            <a:off x="7680960" y="1508760"/>
            <a:ext cx="3959352" cy="566928"/>
          </a:xfrm>
          <a:prstGeom prst="rect">
            <a:avLst/>
          </a:prstGeom>
          <a:solidFill>
            <a:srgbClr val="0B3C6D"/>
          </a:solidFill>
          <a:ln w="9525">
            <a:solidFill>
              <a:srgbClr val="C7DAF0"/>
            </a:solidFill>
            <a:prstDash val="solid"/>
          </a:ln>
        </p:spPr>
      </p:sp>
      <p:sp>
        <p:nvSpPr>
          <p:cNvPr id="8" name="Text 6"/>
          <p:cNvSpPr/>
          <p:nvPr/>
        </p:nvSpPr>
        <p:spPr>
          <a:xfrm>
            <a:off x="7790688" y="1508760"/>
            <a:ext cx="3739896" cy="566928"/>
          </a:xfrm>
          <a:prstGeom prst="rect">
            <a:avLst/>
          </a:prstGeom>
          <a:noFill/>
          <a:ln/>
        </p:spPr>
        <p:txBody>
          <a:bodyPr wrap="square" rtlCol="0" anchor="ctr"/>
          <a:lstStyle/>
          <a:p>
            <a:pPr marL="0" indent="0" algn="l">
              <a:lnSpc>
                <a:spcPct val="100000"/>
              </a:lnSpc>
              <a:buNone/>
            </a:pPr>
            <a:r>
              <a:rPr lang="en-US" sz="1500" b="1" dirty="0">
                <a:solidFill>
                  <a:srgbClr val="FFFFFF"/>
                </a:solidFill>
                <a:latin typeface="Calibri" pitchFamily="34" charset="0"/>
                <a:ea typeface="Calibri" pitchFamily="34" charset="-122"/>
                <a:cs typeface="Calibri" pitchFamily="34" charset="-120"/>
              </a:rPr>
              <a:t>Pull Model</a:t>
            </a:r>
            <a:endParaRPr lang="en-US" sz="1500" dirty="0"/>
          </a:p>
        </p:txBody>
      </p:sp>
      <p:sp>
        <p:nvSpPr>
          <p:cNvPr id="9" name="Shape 7"/>
          <p:cNvSpPr/>
          <p:nvPr/>
        </p:nvSpPr>
        <p:spPr>
          <a:xfrm>
            <a:off x="548640" y="2075688"/>
            <a:ext cx="2743200" cy="566928"/>
          </a:xfrm>
          <a:prstGeom prst="rect">
            <a:avLst/>
          </a:prstGeom>
          <a:solidFill>
            <a:srgbClr val="D6E9FA"/>
          </a:solidFill>
          <a:ln w="9525">
            <a:solidFill>
              <a:srgbClr val="C7DAF0"/>
            </a:solidFill>
            <a:prstDash val="solid"/>
          </a:ln>
        </p:spPr>
      </p:sp>
      <p:sp>
        <p:nvSpPr>
          <p:cNvPr id="10" name="Text 8"/>
          <p:cNvSpPr/>
          <p:nvPr/>
        </p:nvSpPr>
        <p:spPr>
          <a:xfrm>
            <a:off x="658368" y="2075688"/>
            <a:ext cx="2523744" cy="566928"/>
          </a:xfrm>
          <a:prstGeom prst="rect">
            <a:avLst/>
          </a:prstGeom>
          <a:noFill/>
          <a:ln/>
        </p:spPr>
        <p:txBody>
          <a:bodyPr wrap="square" rtlCol="0" anchor="ctr"/>
          <a:lstStyle/>
          <a:p>
            <a:pPr marL="0" indent="0" algn="l">
              <a:lnSpc>
                <a:spcPct val="100000"/>
              </a:lnSpc>
              <a:buNone/>
            </a:pPr>
            <a:r>
              <a:rPr lang="en-US" sz="1350" b="1" dirty="0">
                <a:solidFill>
                  <a:srgbClr val="13263C"/>
                </a:solidFill>
                <a:latin typeface="Calibri" pitchFamily="34" charset="0"/>
                <a:ea typeface="Calibri" pitchFamily="34" charset="-122"/>
                <a:cs typeface="Calibri" pitchFamily="34" charset="-120"/>
              </a:rPr>
              <a:t>Who initiates?</a:t>
            </a:r>
            <a:endParaRPr lang="en-US" sz="1350" dirty="0"/>
          </a:p>
        </p:txBody>
      </p:sp>
      <p:sp>
        <p:nvSpPr>
          <p:cNvPr id="11" name="Shape 9"/>
          <p:cNvSpPr/>
          <p:nvPr/>
        </p:nvSpPr>
        <p:spPr>
          <a:xfrm>
            <a:off x="3291840" y="2075688"/>
            <a:ext cx="4389120" cy="566928"/>
          </a:xfrm>
          <a:prstGeom prst="rect">
            <a:avLst/>
          </a:prstGeom>
          <a:solidFill>
            <a:srgbClr val="FFFFFF"/>
          </a:solidFill>
          <a:ln w="9525">
            <a:solidFill>
              <a:srgbClr val="C7DAF0"/>
            </a:solidFill>
            <a:prstDash val="solid"/>
          </a:ln>
        </p:spPr>
      </p:sp>
      <p:sp>
        <p:nvSpPr>
          <p:cNvPr id="12" name="Text 10"/>
          <p:cNvSpPr/>
          <p:nvPr/>
        </p:nvSpPr>
        <p:spPr>
          <a:xfrm>
            <a:off x="3401568" y="2075688"/>
            <a:ext cx="4169664"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Central server initiates</a:t>
            </a:r>
            <a:endParaRPr lang="en-US" sz="1350" dirty="0"/>
          </a:p>
        </p:txBody>
      </p:sp>
      <p:sp>
        <p:nvSpPr>
          <p:cNvPr id="13" name="Shape 11"/>
          <p:cNvSpPr/>
          <p:nvPr/>
        </p:nvSpPr>
        <p:spPr>
          <a:xfrm>
            <a:off x="7680960" y="2075688"/>
            <a:ext cx="3959352" cy="566928"/>
          </a:xfrm>
          <a:prstGeom prst="rect">
            <a:avLst/>
          </a:prstGeom>
          <a:solidFill>
            <a:srgbClr val="FFFFFF"/>
          </a:solidFill>
          <a:ln w="9525">
            <a:solidFill>
              <a:srgbClr val="C7DAF0"/>
            </a:solidFill>
            <a:prstDash val="solid"/>
          </a:ln>
        </p:spPr>
      </p:sp>
      <p:sp>
        <p:nvSpPr>
          <p:cNvPr id="14" name="Text 12"/>
          <p:cNvSpPr/>
          <p:nvPr/>
        </p:nvSpPr>
        <p:spPr>
          <a:xfrm>
            <a:off x="7790688" y="2075688"/>
            <a:ext cx="3739896"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Client (agent) initiates</a:t>
            </a:r>
            <a:endParaRPr lang="en-US" sz="1350" dirty="0"/>
          </a:p>
        </p:txBody>
      </p:sp>
      <p:sp>
        <p:nvSpPr>
          <p:cNvPr id="15" name="Shape 13"/>
          <p:cNvSpPr/>
          <p:nvPr/>
        </p:nvSpPr>
        <p:spPr>
          <a:xfrm>
            <a:off x="548640" y="2642616"/>
            <a:ext cx="2743200" cy="566928"/>
          </a:xfrm>
          <a:prstGeom prst="rect">
            <a:avLst/>
          </a:prstGeom>
          <a:solidFill>
            <a:srgbClr val="D6E9FA"/>
          </a:solidFill>
          <a:ln w="9525">
            <a:solidFill>
              <a:srgbClr val="C7DAF0"/>
            </a:solidFill>
            <a:prstDash val="solid"/>
          </a:ln>
        </p:spPr>
      </p:sp>
      <p:sp>
        <p:nvSpPr>
          <p:cNvPr id="16" name="Text 14"/>
          <p:cNvSpPr/>
          <p:nvPr/>
        </p:nvSpPr>
        <p:spPr>
          <a:xfrm>
            <a:off x="658368" y="2642616"/>
            <a:ext cx="2523744" cy="566928"/>
          </a:xfrm>
          <a:prstGeom prst="rect">
            <a:avLst/>
          </a:prstGeom>
          <a:noFill/>
          <a:ln/>
        </p:spPr>
        <p:txBody>
          <a:bodyPr wrap="square" rtlCol="0" anchor="ctr"/>
          <a:lstStyle/>
          <a:p>
            <a:pPr marL="0" indent="0" algn="l">
              <a:lnSpc>
                <a:spcPct val="100000"/>
              </a:lnSpc>
              <a:buNone/>
            </a:pPr>
            <a:r>
              <a:rPr lang="en-US" sz="1350" b="1" dirty="0">
                <a:solidFill>
                  <a:srgbClr val="13263C"/>
                </a:solidFill>
                <a:latin typeface="Calibri" pitchFamily="34" charset="0"/>
                <a:ea typeface="Calibri" pitchFamily="34" charset="-122"/>
                <a:cs typeface="Calibri" pitchFamily="34" charset="-120"/>
              </a:rPr>
              <a:t>Speed of update</a:t>
            </a:r>
            <a:endParaRPr lang="en-US" sz="1350" dirty="0"/>
          </a:p>
        </p:txBody>
      </p:sp>
      <p:sp>
        <p:nvSpPr>
          <p:cNvPr id="17" name="Shape 15"/>
          <p:cNvSpPr/>
          <p:nvPr/>
        </p:nvSpPr>
        <p:spPr>
          <a:xfrm>
            <a:off x="3291840" y="2642616"/>
            <a:ext cx="4389120" cy="566928"/>
          </a:xfrm>
          <a:prstGeom prst="rect">
            <a:avLst/>
          </a:prstGeom>
          <a:solidFill>
            <a:srgbClr val="EAF3FC"/>
          </a:solidFill>
          <a:ln w="9525">
            <a:solidFill>
              <a:srgbClr val="C7DAF0"/>
            </a:solidFill>
            <a:prstDash val="solid"/>
          </a:ln>
        </p:spPr>
      </p:sp>
      <p:sp>
        <p:nvSpPr>
          <p:cNvPr id="18" name="Text 16"/>
          <p:cNvSpPr/>
          <p:nvPr/>
        </p:nvSpPr>
        <p:spPr>
          <a:xfrm>
            <a:off x="3401568" y="2642616"/>
            <a:ext cx="4169664"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Immediate / instant</a:t>
            </a:r>
            <a:endParaRPr lang="en-US" sz="1350" dirty="0"/>
          </a:p>
        </p:txBody>
      </p:sp>
      <p:sp>
        <p:nvSpPr>
          <p:cNvPr id="19" name="Shape 17"/>
          <p:cNvSpPr/>
          <p:nvPr/>
        </p:nvSpPr>
        <p:spPr>
          <a:xfrm>
            <a:off x="7680960" y="2642616"/>
            <a:ext cx="3959352" cy="566928"/>
          </a:xfrm>
          <a:prstGeom prst="rect">
            <a:avLst/>
          </a:prstGeom>
          <a:solidFill>
            <a:srgbClr val="EAF3FC"/>
          </a:solidFill>
          <a:ln w="9525">
            <a:solidFill>
              <a:srgbClr val="C7DAF0"/>
            </a:solidFill>
            <a:prstDash val="solid"/>
          </a:ln>
        </p:spPr>
      </p:sp>
      <p:sp>
        <p:nvSpPr>
          <p:cNvPr id="20" name="Text 18"/>
          <p:cNvSpPr/>
          <p:nvPr/>
        </p:nvSpPr>
        <p:spPr>
          <a:xfrm>
            <a:off x="7790688" y="2642616"/>
            <a:ext cx="3739896"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Delayed until next check-in</a:t>
            </a:r>
            <a:endParaRPr lang="en-US" sz="1350" dirty="0"/>
          </a:p>
        </p:txBody>
      </p:sp>
      <p:sp>
        <p:nvSpPr>
          <p:cNvPr id="21" name="Shape 19"/>
          <p:cNvSpPr/>
          <p:nvPr/>
        </p:nvSpPr>
        <p:spPr>
          <a:xfrm>
            <a:off x="548640" y="3209544"/>
            <a:ext cx="2743200" cy="566928"/>
          </a:xfrm>
          <a:prstGeom prst="rect">
            <a:avLst/>
          </a:prstGeom>
          <a:solidFill>
            <a:srgbClr val="D6E9FA"/>
          </a:solidFill>
          <a:ln w="9525">
            <a:solidFill>
              <a:srgbClr val="C7DAF0"/>
            </a:solidFill>
            <a:prstDash val="solid"/>
          </a:ln>
        </p:spPr>
      </p:sp>
      <p:sp>
        <p:nvSpPr>
          <p:cNvPr id="22" name="Text 20"/>
          <p:cNvSpPr/>
          <p:nvPr/>
        </p:nvSpPr>
        <p:spPr>
          <a:xfrm>
            <a:off x="658368" y="3209544"/>
            <a:ext cx="2523744" cy="566928"/>
          </a:xfrm>
          <a:prstGeom prst="rect">
            <a:avLst/>
          </a:prstGeom>
          <a:noFill/>
          <a:ln/>
        </p:spPr>
        <p:txBody>
          <a:bodyPr wrap="square" rtlCol="0" anchor="ctr"/>
          <a:lstStyle/>
          <a:p>
            <a:pPr marL="0" indent="0" algn="l">
              <a:lnSpc>
                <a:spcPct val="100000"/>
              </a:lnSpc>
              <a:buNone/>
            </a:pPr>
            <a:r>
              <a:rPr lang="en-US" sz="1350" b="1" dirty="0">
                <a:solidFill>
                  <a:srgbClr val="13263C"/>
                </a:solidFill>
                <a:latin typeface="Calibri" pitchFamily="34" charset="0"/>
                <a:ea typeface="Calibri" pitchFamily="34" charset="-122"/>
                <a:cs typeface="Calibri" pitchFamily="34" charset="-120"/>
              </a:rPr>
              <a:t>Best for</a:t>
            </a:r>
            <a:endParaRPr lang="en-US" sz="1350" dirty="0"/>
          </a:p>
        </p:txBody>
      </p:sp>
      <p:sp>
        <p:nvSpPr>
          <p:cNvPr id="23" name="Shape 21"/>
          <p:cNvSpPr/>
          <p:nvPr/>
        </p:nvSpPr>
        <p:spPr>
          <a:xfrm>
            <a:off x="3291840" y="3209544"/>
            <a:ext cx="4389120" cy="566928"/>
          </a:xfrm>
          <a:prstGeom prst="rect">
            <a:avLst/>
          </a:prstGeom>
          <a:solidFill>
            <a:srgbClr val="FFFFFF"/>
          </a:solidFill>
          <a:ln w="9525">
            <a:solidFill>
              <a:srgbClr val="C7DAF0"/>
            </a:solidFill>
            <a:prstDash val="solid"/>
          </a:ln>
        </p:spPr>
      </p:sp>
      <p:sp>
        <p:nvSpPr>
          <p:cNvPr id="24" name="Text 22"/>
          <p:cNvSpPr/>
          <p:nvPr/>
        </p:nvSpPr>
        <p:spPr>
          <a:xfrm>
            <a:off x="3401568" y="3209544"/>
            <a:ext cx="4169664"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Emergency patches, urgent fixes</a:t>
            </a:r>
            <a:endParaRPr lang="en-US" sz="1350" dirty="0"/>
          </a:p>
        </p:txBody>
      </p:sp>
      <p:sp>
        <p:nvSpPr>
          <p:cNvPr id="25" name="Shape 23"/>
          <p:cNvSpPr/>
          <p:nvPr/>
        </p:nvSpPr>
        <p:spPr>
          <a:xfrm>
            <a:off x="7680960" y="3209544"/>
            <a:ext cx="3959352" cy="566928"/>
          </a:xfrm>
          <a:prstGeom prst="rect">
            <a:avLst/>
          </a:prstGeom>
          <a:solidFill>
            <a:srgbClr val="FFFFFF"/>
          </a:solidFill>
          <a:ln w="9525">
            <a:solidFill>
              <a:srgbClr val="C7DAF0"/>
            </a:solidFill>
            <a:prstDash val="solid"/>
          </a:ln>
        </p:spPr>
      </p:sp>
      <p:sp>
        <p:nvSpPr>
          <p:cNvPr id="26" name="Text 24"/>
          <p:cNvSpPr/>
          <p:nvPr/>
        </p:nvSpPr>
        <p:spPr>
          <a:xfrm>
            <a:off x="7790688" y="3209544"/>
            <a:ext cx="3739896"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Routine, scheduled updates</a:t>
            </a:r>
            <a:endParaRPr lang="en-US" sz="1350" dirty="0"/>
          </a:p>
        </p:txBody>
      </p:sp>
      <p:sp>
        <p:nvSpPr>
          <p:cNvPr id="27" name="Shape 25"/>
          <p:cNvSpPr/>
          <p:nvPr/>
        </p:nvSpPr>
        <p:spPr>
          <a:xfrm>
            <a:off x="548640" y="3776472"/>
            <a:ext cx="2743200" cy="566928"/>
          </a:xfrm>
          <a:prstGeom prst="rect">
            <a:avLst/>
          </a:prstGeom>
          <a:solidFill>
            <a:srgbClr val="D6E9FA"/>
          </a:solidFill>
          <a:ln w="9525">
            <a:solidFill>
              <a:srgbClr val="C7DAF0"/>
            </a:solidFill>
            <a:prstDash val="solid"/>
          </a:ln>
        </p:spPr>
      </p:sp>
      <p:sp>
        <p:nvSpPr>
          <p:cNvPr id="28" name="Text 26"/>
          <p:cNvSpPr/>
          <p:nvPr/>
        </p:nvSpPr>
        <p:spPr>
          <a:xfrm>
            <a:off x="658368" y="3776472"/>
            <a:ext cx="2523744" cy="566928"/>
          </a:xfrm>
          <a:prstGeom prst="rect">
            <a:avLst/>
          </a:prstGeom>
          <a:noFill/>
          <a:ln/>
        </p:spPr>
        <p:txBody>
          <a:bodyPr wrap="square" rtlCol="0" anchor="ctr"/>
          <a:lstStyle/>
          <a:p>
            <a:pPr marL="0" indent="0" algn="l">
              <a:lnSpc>
                <a:spcPct val="100000"/>
              </a:lnSpc>
              <a:buNone/>
            </a:pPr>
            <a:r>
              <a:rPr lang="en-US" sz="1350" b="1" dirty="0">
                <a:solidFill>
                  <a:srgbClr val="13263C"/>
                </a:solidFill>
                <a:latin typeface="Calibri" pitchFamily="34" charset="0"/>
                <a:ea typeface="Calibri" pitchFamily="34" charset="-122"/>
                <a:cs typeface="Calibri" pitchFamily="34" charset="-120"/>
              </a:rPr>
              <a:t>Admin control</a:t>
            </a:r>
            <a:endParaRPr lang="en-US" sz="1350" dirty="0"/>
          </a:p>
        </p:txBody>
      </p:sp>
      <p:sp>
        <p:nvSpPr>
          <p:cNvPr id="29" name="Shape 27"/>
          <p:cNvSpPr/>
          <p:nvPr/>
        </p:nvSpPr>
        <p:spPr>
          <a:xfrm>
            <a:off x="3291840" y="3776472"/>
            <a:ext cx="4389120" cy="566928"/>
          </a:xfrm>
          <a:prstGeom prst="rect">
            <a:avLst/>
          </a:prstGeom>
          <a:solidFill>
            <a:srgbClr val="EAF3FC"/>
          </a:solidFill>
          <a:ln w="9525">
            <a:solidFill>
              <a:srgbClr val="C7DAF0"/>
            </a:solidFill>
            <a:prstDash val="solid"/>
          </a:ln>
        </p:spPr>
      </p:sp>
      <p:sp>
        <p:nvSpPr>
          <p:cNvPr id="30" name="Text 28"/>
          <p:cNvSpPr/>
          <p:nvPr/>
        </p:nvSpPr>
        <p:spPr>
          <a:xfrm>
            <a:off x="3401568" y="3776472"/>
            <a:ext cx="4169664"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High — admin decides exact timing</a:t>
            </a:r>
            <a:endParaRPr lang="en-US" sz="1350" dirty="0"/>
          </a:p>
        </p:txBody>
      </p:sp>
      <p:sp>
        <p:nvSpPr>
          <p:cNvPr id="31" name="Shape 29"/>
          <p:cNvSpPr/>
          <p:nvPr/>
        </p:nvSpPr>
        <p:spPr>
          <a:xfrm>
            <a:off x="7680960" y="3776472"/>
            <a:ext cx="3959352" cy="566928"/>
          </a:xfrm>
          <a:prstGeom prst="rect">
            <a:avLst/>
          </a:prstGeom>
          <a:solidFill>
            <a:srgbClr val="EAF3FC"/>
          </a:solidFill>
          <a:ln w="9525">
            <a:solidFill>
              <a:srgbClr val="C7DAF0"/>
            </a:solidFill>
            <a:prstDash val="solid"/>
          </a:ln>
        </p:spPr>
      </p:sp>
      <p:sp>
        <p:nvSpPr>
          <p:cNvPr id="32" name="Text 30"/>
          <p:cNvSpPr/>
          <p:nvPr/>
        </p:nvSpPr>
        <p:spPr>
          <a:xfrm>
            <a:off x="7790688" y="3776472"/>
            <a:ext cx="3739896"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Lower — client controls timing</a:t>
            </a:r>
            <a:endParaRPr lang="en-US" sz="1350" dirty="0"/>
          </a:p>
        </p:txBody>
      </p:sp>
      <p:sp>
        <p:nvSpPr>
          <p:cNvPr id="33" name="Shape 31"/>
          <p:cNvSpPr/>
          <p:nvPr/>
        </p:nvSpPr>
        <p:spPr>
          <a:xfrm>
            <a:off x="548640" y="4343400"/>
            <a:ext cx="2743200" cy="566928"/>
          </a:xfrm>
          <a:prstGeom prst="rect">
            <a:avLst/>
          </a:prstGeom>
          <a:solidFill>
            <a:srgbClr val="D6E9FA"/>
          </a:solidFill>
          <a:ln w="9525">
            <a:solidFill>
              <a:srgbClr val="C7DAF0"/>
            </a:solidFill>
            <a:prstDash val="solid"/>
          </a:ln>
        </p:spPr>
      </p:sp>
      <p:sp>
        <p:nvSpPr>
          <p:cNvPr id="34" name="Text 32"/>
          <p:cNvSpPr/>
          <p:nvPr/>
        </p:nvSpPr>
        <p:spPr>
          <a:xfrm>
            <a:off x="658368" y="4343400"/>
            <a:ext cx="2523744" cy="566928"/>
          </a:xfrm>
          <a:prstGeom prst="rect">
            <a:avLst/>
          </a:prstGeom>
          <a:noFill/>
          <a:ln/>
        </p:spPr>
        <p:txBody>
          <a:bodyPr wrap="square" rtlCol="0" anchor="ctr"/>
          <a:lstStyle/>
          <a:p>
            <a:pPr marL="0" indent="0" algn="l">
              <a:lnSpc>
                <a:spcPct val="100000"/>
              </a:lnSpc>
              <a:buNone/>
            </a:pPr>
            <a:r>
              <a:rPr lang="en-US" sz="1350" b="1" dirty="0">
                <a:solidFill>
                  <a:srgbClr val="13263C"/>
                </a:solidFill>
                <a:latin typeface="Calibri" pitchFamily="34" charset="0"/>
                <a:ea typeface="Calibri" pitchFamily="34" charset="-122"/>
                <a:cs typeface="Calibri" pitchFamily="34" charset="-120"/>
              </a:rPr>
              <a:t>Scalability</a:t>
            </a:r>
            <a:endParaRPr lang="en-US" sz="1350" dirty="0"/>
          </a:p>
        </p:txBody>
      </p:sp>
      <p:sp>
        <p:nvSpPr>
          <p:cNvPr id="35" name="Shape 33"/>
          <p:cNvSpPr/>
          <p:nvPr/>
        </p:nvSpPr>
        <p:spPr>
          <a:xfrm>
            <a:off x="3291840" y="4343400"/>
            <a:ext cx="4389120" cy="566928"/>
          </a:xfrm>
          <a:prstGeom prst="rect">
            <a:avLst/>
          </a:prstGeom>
          <a:solidFill>
            <a:srgbClr val="FFFFFF"/>
          </a:solidFill>
          <a:ln w="9525">
            <a:solidFill>
              <a:srgbClr val="C7DAF0"/>
            </a:solidFill>
            <a:prstDash val="solid"/>
          </a:ln>
        </p:spPr>
      </p:sp>
      <p:sp>
        <p:nvSpPr>
          <p:cNvPr id="36" name="Text 34"/>
          <p:cNvSpPr/>
          <p:nvPr/>
        </p:nvSpPr>
        <p:spPr>
          <a:xfrm>
            <a:off x="3401568" y="4343400"/>
            <a:ext cx="4169664"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Can strain server on huge fleets</a:t>
            </a:r>
            <a:endParaRPr lang="en-US" sz="1350" dirty="0"/>
          </a:p>
        </p:txBody>
      </p:sp>
      <p:sp>
        <p:nvSpPr>
          <p:cNvPr id="37" name="Shape 35"/>
          <p:cNvSpPr/>
          <p:nvPr/>
        </p:nvSpPr>
        <p:spPr>
          <a:xfrm>
            <a:off x="7680960" y="4343400"/>
            <a:ext cx="3959352" cy="566928"/>
          </a:xfrm>
          <a:prstGeom prst="rect">
            <a:avLst/>
          </a:prstGeom>
          <a:solidFill>
            <a:srgbClr val="FFFFFF"/>
          </a:solidFill>
          <a:ln w="9525">
            <a:solidFill>
              <a:srgbClr val="C7DAF0"/>
            </a:solidFill>
            <a:prstDash val="solid"/>
          </a:ln>
        </p:spPr>
      </p:sp>
      <p:sp>
        <p:nvSpPr>
          <p:cNvPr id="38" name="Text 36"/>
          <p:cNvSpPr/>
          <p:nvPr/>
        </p:nvSpPr>
        <p:spPr>
          <a:xfrm>
            <a:off x="7790688" y="4343400"/>
            <a:ext cx="3739896"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Scales well; load is spread over time</a:t>
            </a:r>
            <a:endParaRPr lang="en-US" sz="1350" dirty="0"/>
          </a:p>
        </p:txBody>
      </p:sp>
      <p:sp>
        <p:nvSpPr>
          <p:cNvPr id="39" name="Shape 37"/>
          <p:cNvSpPr/>
          <p:nvPr/>
        </p:nvSpPr>
        <p:spPr>
          <a:xfrm>
            <a:off x="548640" y="4910328"/>
            <a:ext cx="2743200" cy="566928"/>
          </a:xfrm>
          <a:prstGeom prst="rect">
            <a:avLst/>
          </a:prstGeom>
          <a:solidFill>
            <a:srgbClr val="D6E9FA"/>
          </a:solidFill>
          <a:ln w="9525">
            <a:solidFill>
              <a:srgbClr val="C7DAF0"/>
            </a:solidFill>
            <a:prstDash val="solid"/>
          </a:ln>
        </p:spPr>
      </p:sp>
      <p:sp>
        <p:nvSpPr>
          <p:cNvPr id="40" name="Text 38"/>
          <p:cNvSpPr/>
          <p:nvPr/>
        </p:nvSpPr>
        <p:spPr>
          <a:xfrm>
            <a:off x="658368" y="4910328"/>
            <a:ext cx="2523744" cy="566928"/>
          </a:xfrm>
          <a:prstGeom prst="rect">
            <a:avLst/>
          </a:prstGeom>
          <a:noFill/>
          <a:ln/>
        </p:spPr>
        <p:txBody>
          <a:bodyPr wrap="square" rtlCol="0" anchor="ctr"/>
          <a:lstStyle/>
          <a:p>
            <a:pPr marL="0" indent="0" algn="l">
              <a:lnSpc>
                <a:spcPct val="100000"/>
              </a:lnSpc>
              <a:buNone/>
            </a:pPr>
            <a:r>
              <a:rPr lang="en-US" sz="1350" b="1" dirty="0">
                <a:solidFill>
                  <a:srgbClr val="13263C"/>
                </a:solidFill>
                <a:latin typeface="Calibri" pitchFamily="34" charset="0"/>
                <a:ea typeface="Calibri" pitchFamily="34" charset="-122"/>
                <a:cs typeface="Calibri" pitchFamily="34" charset="-120"/>
              </a:rPr>
              <a:t>Network requirement</a:t>
            </a:r>
            <a:endParaRPr lang="en-US" sz="1350" dirty="0"/>
          </a:p>
        </p:txBody>
      </p:sp>
      <p:sp>
        <p:nvSpPr>
          <p:cNvPr id="41" name="Shape 39"/>
          <p:cNvSpPr/>
          <p:nvPr/>
        </p:nvSpPr>
        <p:spPr>
          <a:xfrm>
            <a:off x="3291840" y="4910328"/>
            <a:ext cx="4389120" cy="566928"/>
          </a:xfrm>
          <a:prstGeom prst="rect">
            <a:avLst/>
          </a:prstGeom>
          <a:solidFill>
            <a:srgbClr val="EAF3FC"/>
          </a:solidFill>
          <a:ln w="9525">
            <a:solidFill>
              <a:srgbClr val="C7DAF0"/>
            </a:solidFill>
            <a:prstDash val="solid"/>
          </a:ln>
        </p:spPr>
      </p:sp>
      <p:sp>
        <p:nvSpPr>
          <p:cNvPr id="42" name="Text 40"/>
          <p:cNvSpPr/>
          <p:nvPr/>
        </p:nvSpPr>
        <p:spPr>
          <a:xfrm>
            <a:off x="3401568" y="4910328"/>
            <a:ext cx="4169664"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Server must reach every client</a:t>
            </a:r>
            <a:endParaRPr lang="en-US" sz="1350" dirty="0"/>
          </a:p>
        </p:txBody>
      </p:sp>
      <p:sp>
        <p:nvSpPr>
          <p:cNvPr id="43" name="Shape 41"/>
          <p:cNvSpPr/>
          <p:nvPr/>
        </p:nvSpPr>
        <p:spPr>
          <a:xfrm>
            <a:off x="7680960" y="4910328"/>
            <a:ext cx="3959352" cy="566928"/>
          </a:xfrm>
          <a:prstGeom prst="rect">
            <a:avLst/>
          </a:prstGeom>
          <a:solidFill>
            <a:srgbClr val="EAF3FC"/>
          </a:solidFill>
          <a:ln w="9525">
            <a:solidFill>
              <a:srgbClr val="C7DAF0"/>
            </a:solidFill>
            <a:prstDash val="solid"/>
          </a:ln>
        </p:spPr>
      </p:sp>
      <p:sp>
        <p:nvSpPr>
          <p:cNvPr id="44" name="Text 42"/>
          <p:cNvSpPr/>
          <p:nvPr/>
        </p:nvSpPr>
        <p:spPr>
          <a:xfrm>
            <a:off x="7790688" y="4910328"/>
            <a:ext cx="3739896"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Client just needs server access</a:t>
            </a:r>
            <a:endParaRPr lang="en-US" sz="1350" dirty="0"/>
          </a:p>
        </p:txBody>
      </p:sp>
      <p:sp>
        <p:nvSpPr>
          <p:cNvPr id="45" name="Shape 43"/>
          <p:cNvSpPr/>
          <p:nvPr/>
        </p:nvSpPr>
        <p:spPr>
          <a:xfrm>
            <a:off x="548640" y="5477256"/>
            <a:ext cx="2743200" cy="566928"/>
          </a:xfrm>
          <a:prstGeom prst="rect">
            <a:avLst/>
          </a:prstGeom>
          <a:solidFill>
            <a:srgbClr val="D6E9FA"/>
          </a:solidFill>
          <a:ln w="9525">
            <a:solidFill>
              <a:srgbClr val="C7DAF0"/>
            </a:solidFill>
            <a:prstDash val="solid"/>
          </a:ln>
        </p:spPr>
      </p:sp>
      <p:sp>
        <p:nvSpPr>
          <p:cNvPr id="46" name="Text 44"/>
          <p:cNvSpPr/>
          <p:nvPr/>
        </p:nvSpPr>
        <p:spPr>
          <a:xfrm>
            <a:off x="658368" y="5477256"/>
            <a:ext cx="2523744" cy="566928"/>
          </a:xfrm>
          <a:prstGeom prst="rect">
            <a:avLst/>
          </a:prstGeom>
          <a:noFill/>
          <a:ln/>
        </p:spPr>
        <p:txBody>
          <a:bodyPr wrap="square" rtlCol="0" anchor="ctr"/>
          <a:lstStyle/>
          <a:p>
            <a:pPr marL="0" indent="0" algn="l">
              <a:lnSpc>
                <a:spcPct val="100000"/>
              </a:lnSpc>
              <a:buNone/>
            </a:pPr>
            <a:r>
              <a:rPr lang="en-US" sz="1350" b="1" dirty="0">
                <a:solidFill>
                  <a:srgbClr val="13263C"/>
                </a:solidFill>
                <a:latin typeface="Calibri" pitchFamily="34" charset="0"/>
                <a:ea typeface="Calibri" pitchFamily="34" charset="-122"/>
                <a:cs typeface="Calibri" pitchFamily="34" charset="-120"/>
              </a:rPr>
              <a:t>Real-world analogy</a:t>
            </a:r>
            <a:endParaRPr lang="en-US" sz="1350" dirty="0"/>
          </a:p>
        </p:txBody>
      </p:sp>
      <p:sp>
        <p:nvSpPr>
          <p:cNvPr id="47" name="Shape 45"/>
          <p:cNvSpPr/>
          <p:nvPr/>
        </p:nvSpPr>
        <p:spPr>
          <a:xfrm>
            <a:off x="3291840" y="5477256"/>
            <a:ext cx="4389120" cy="566928"/>
          </a:xfrm>
          <a:prstGeom prst="rect">
            <a:avLst/>
          </a:prstGeom>
          <a:solidFill>
            <a:srgbClr val="FFFFFF"/>
          </a:solidFill>
          <a:ln w="9525">
            <a:solidFill>
              <a:srgbClr val="C7DAF0"/>
            </a:solidFill>
            <a:prstDash val="solid"/>
          </a:ln>
        </p:spPr>
      </p:sp>
      <p:sp>
        <p:nvSpPr>
          <p:cNvPr id="48" name="Text 46"/>
          <p:cNvSpPr/>
          <p:nvPr/>
        </p:nvSpPr>
        <p:spPr>
          <a:xfrm>
            <a:off x="3401568" y="5477256"/>
            <a:ext cx="4169664"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Teacher sending an assignment</a:t>
            </a:r>
            <a:endParaRPr lang="en-US" sz="1350" dirty="0"/>
          </a:p>
        </p:txBody>
      </p:sp>
      <p:sp>
        <p:nvSpPr>
          <p:cNvPr id="49" name="Shape 47"/>
          <p:cNvSpPr/>
          <p:nvPr/>
        </p:nvSpPr>
        <p:spPr>
          <a:xfrm>
            <a:off x="7680960" y="5477256"/>
            <a:ext cx="3959352" cy="566928"/>
          </a:xfrm>
          <a:prstGeom prst="rect">
            <a:avLst/>
          </a:prstGeom>
          <a:solidFill>
            <a:srgbClr val="FFFFFF"/>
          </a:solidFill>
          <a:ln w="9525">
            <a:solidFill>
              <a:srgbClr val="C7DAF0"/>
            </a:solidFill>
            <a:prstDash val="solid"/>
          </a:ln>
        </p:spPr>
      </p:sp>
      <p:sp>
        <p:nvSpPr>
          <p:cNvPr id="50" name="Text 48"/>
          <p:cNvSpPr/>
          <p:nvPr/>
        </p:nvSpPr>
        <p:spPr>
          <a:xfrm>
            <a:off x="7790688" y="5477256"/>
            <a:ext cx="3739896" cy="566928"/>
          </a:xfrm>
          <a:prstGeom prst="rect">
            <a:avLst/>
          </a:prstGeom>
          <a:noFill/>
          <a:ln/>
        </p:spPr>
        <p:txBody>
          <a:bodyPr wrap="square" rtlCol="0" anchor="ctr"/>
          <a:lstStyle/>
          <a:p>
            <a:pPr marL="0" indent="0" algn="l">
              <a:lnSpc>
                <a:spcPct val="100000"/>
              </a:lnSpc>
              <a:buNone/>
            </a:pPr>
            <a:r>
              <a:rPr lang="en-US" sz="1350" dirty="0">
                <a:solidFill>
                  <a:srgbClr val="13263C"/>
                </a:solidFill>
                <a:latin typeface="Calibri" pitchFamily="34" charset="0"/>
                <a:ea typeface="Calibri" pitchFamily="34" charset="-122"/>
                <a:cs typeface="Calibri" pitchFamily="34" charset="-120"/>
              </a:rPr>
              <a:t>Phone checking for software updates</a:t>
            </a:r>
            <a:endParaRPr lang="en-US" sz="1350" dirty="0"/>
          </a:p>
        </p:txBody>
      </p:sp>
      <p:sp>
        <p:nvSpPr>
          <p:cNvPr id="51" name="Text 49"/>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Push vs Pull</a:t>
            </a:r>
            <a:endParaRPr lang="en-US" sz="1100" dirty="0"/>
          </a:p>
        </p:txBody>
      </p:sp>
      <p:sp>
        <p:nvSpPr>
          <p:cNvPr id="52" name="Text 50"/>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685800"/>
          </a:xfrm>
          <a:prstGeom prst="rect">
            <a:avLst/>
          </a:prstGeom>
          <a:noFill/>
          <a:ln/>
        </p:spPr>
        <p:txBody>
          <a:bodyPr wrap="square" rtlCol="0" anchor="ctr"/>
          <a:lstStyle/>
          <a:p>
            <a:pPr marL="0" indent="0" algn="l">
              <a:buNone/>
            </a:pPr>
            <a:r>
              <a:rPr lang="en-US" sz="3400" b="1" dirty="0">
                <a:solidFill>
                  <a:srgbClr val="0B3C6D"/>
                </a:solidFill>
                <a:latin typeface="Cambria" pitchFamily="34" charset="0"/>
                <a:ea typeface="Cambria" pitchFamily="34" charset="-122"/>
                <a:cs typeface="Cambria" pitchFamily="34" charset="-120"/>
              </a:rPr>
              <a:t>Architecture: Push vs. Pull at a Glance</a:t>
            </a:r>
            <a:endParaRPr lang="en-US" sz="3400" dirty="0"/>
          </a:p>
        </p:txBody>
      </p:sp>
      <p:sp>
        <p:nvSpPr>
          <p:cNvPr id="3" name="Shape 1"/>
          <p:cNvSpPr/>
          <p:nvPr/>
        </p:nvSpPr>
        <p:spPr>
          <a:xfrm>
            <a:off x="548640" y="1600200"/>
            <a:ext cx="5394960" cy="4572000"/>
          </a:xfrm>
          <a:prstGeom prst="roundRect">
            <a:avLst>
              <a:gd name="adj" fmla="val 2400"/>
            </a:avLst>
          </a:prstGeom>
          <a:solidFill>
            <a:srgbClr val="D6E9FA"/>
          </a:solidFill>
          <a:ln/>
          <a:effectLst>
            <a:outerShdw blurRad="76200" dist="25400" dir="5400000" algn="bl" rotWithShape="0">
              <a:srgbClr val="3A5A80">
                <a:alpha val="18000"/>
              </a:srgbClr>
            </a:outerShdw>
          </a:effectLst>
        </p:spPr>
      </p:sp>
      <p:sp>
        <p:nvSpPr>
          <p:cNvPr id="4" name="Text 2"/>
          <p:cNvSpPr/>
          <p:nvPr/>
        </p:nvSpPr>
        <p:spPr>
          <a:xfrm>
            <a:off x="822960" y="1755648"/>
            <a:ext cx="4846320" cy="365760"/>
          </a:xfrm>
          <a:prstGeom prst="rect">
            <a:avLst/>
          </a:prstGeom>
          <a:noFill/>
          <a:ln/>
        </p:spPr>
        <p:txBody>
          <a:bodyPr wrap="square" rtlCol="0" anchor="ctr"/>
          <a:lstStyle/>
          <a:p>
            <a:pPr marL="0" indent="0" algn="ctr">
              <a:buNone/>
            </a:pPr>
            <a:r>
              <a:rPr lang="en-US" sz="1800" b="1" dirty="0">
                <a:solidFill>
                  <a:srgbClr val="0B3C6D"/>
                </a:solidFill>
                <a:latin typeface="Calibri" pitchFamily="34" charset="0"/>
                <a:ea typeface="Calibri" pitchFamily="34" charset="-122"/>
                <a:cs typeface="Calibri" pitchFamily="34" charset="-120"/>
              </a:rPr>
              <a:t>PUSH MODEL</a:t>
            </a:r>
            <a:endParaRPr lang="en-US" sz="1800" dirty="0"/>
          </a:p>
        </p:txBody>
      </p:sp>
      <p:sp>
        <p:nvSpPr>
          <p:cNvPr id="5" name="Shape 3"/>
          <p:cNvSpPr/>
          <p:nvPr/>
        </p:nvSpPr>
        <p:spPr>
          <a:xfrm>
            <a:off x="1737360" y="2103120"/>
            <a:ext cx="2834640" cy="594360"/>
          </a:xfrm>
          <a:prstGeom prst="roundRect">
            <a:avLst>
              <a:gd name="adj" fmla="val 15385"/>
            </a:avLst>
          </a:prstGeom>
          <a:solidFill>
            <a:srgbClr val="0B3C6D"/>
          </a:solidFill>
          <a:ln/>
          <a:effectLst>
            <a:outerShdw blurRad="63500" dist="25400" dir="5400000" algn="bl" rotWithShape="0">
              <a:srgbClr val="3A5A80">
                <a:alpha val="18000"/>
              </a:srgbClr>
            </a:outerShdw>
          </a:effectLst>
        </p:spPr>
      </p:sp>
      <p:sp>
        <p:nvSpPr>
          <p:cNvPr id="6" name="Text 4"/>
          <p:cNvSpPr/>
          <p:nvPr/>
        </p:nvSpPr>
        <p:spPr>
          <a:xfrm>
            <a:off x="1810512" y="2103120"/>
            <a:ext cx="2688336" cy="594360"/>
          </a:xfrm>
          <a:prstGeom prst="rect">
            <a:avLst/>
          </a:prstGeom>
          <a:noFill/>
          <a:ln/>
        </p:spPr>
        <p:txBody>
          <a:bodyPr wrap="square" rtlCol="0" anchor="ctr"/>
          <a:lstStyle/>
          <a:p>
            <a:pPr marL="0" indent="0" algn="ctr">
              <a:lnSpc>
                <a:spcPct val="100000"/>
              </a:lnSpc>
              <a:buNone/>
            </a:pPr>
            <a:r>
              <a:rPr lang="en-US" sz="1300" b="1" dirty="0">
                <a:solidFill>
                  <a:srgbClr val="FFFFFF"/>
                </a:solidFill>
                <a:latin typeface="Calibri" pitchFamily="34" charset="0"/>
                <a:ea typeface="Calibri" pitchFamily="34" charset="-122"/>
                <a:cs typeface="Calibri" pitchFamily="34" charset="-120"/>
              </a:rPr>
              <a:t>Management Server</a:t>
            </a:r>
            <a:endParaRPr lang="en-US" sz="1300" dirty="0"/>
          </a:p>
        </p:txBody>
      </p:sp>
      <p:sp>
        <p:nvSpPr>
          <p:cNvPr id="7" name="Shape 5"/>
          <p:cNvSpPr/>
          <p:nvPr/>
        </p:nvSpPr>
        <p:spPr>
          <a:xfrm>
            <a:off x="960120" y="4114800"/>
            <a:ext cx="1554480" cy="548640"/>
          </a:xfrm>
          <a:prstGeom prst="roundRect">
            <a:avLst>
              <a:gd name="adj" fmla="val 16667"/>
            </a:avLst>
          </a:prstGeom>
          <a:solidFill>
            <a:srgbClr val="2E86DE"/>
          </a:solidFill>
          <a:ln/>
          <a:effectLst>
            <a:outerShdw blurRad="63500" dist="25400" dir="5400000" algn="bl" rotWithShape="0">
              <a:srgbClr val="3A5A80">
                <a:alpha val="18000"/>
              </a:srgbClr>
            </a:outerShdw>
          </a:effectLst>
        </p:spPr>
      </p:sp>
      <p:sp>
        <p:nvSpPr>
          <p:cNvPr id="8" name="Text 6"/>
          <p:cNvSpPr/>
          <p:nvPr/>
        </p:nvSpPr>
        <p:spPr>
          <a:xfrm>
            <a:off x="1033272" y="4114800"/>
            <a:ext cx="1408176" cy="54864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Client A</a:t>
            </a:r>
            <a:endParaRPr lang="en-US" sz="1250" dirty="0"/>
          </a:p>
        </p:txBody>
      </p:sp>
      <p:sp>
        <p:nvSpPr>
          <p:cNvPr id="9" name="Shape 7"/>
          <p:cNvSpPr/>
          <p:nvPr/>
        </p:nvSpPr>
        <p:spPr>
          <a:xfrm>
            <a:off x="2606040" y="4114800"/>
            <a:ext cx="1554480" cy="548640"/>
          </a:xfrm>
          <a:prstGeom prst="roundRect">
            <a:avLst>
              <a:gd name="adj" fmla="val 16667"/>
            </a:avLst>
          </a:prstGeom>
          <a:solidFill>
            <a:srgbClr val="2E86DE"/>
          </a:solidFill>
          <a:ln/>
          <a:effectLst>
            <a:outerShdw blurRad="63500" dist="25400" dir="5400000" algn="bl" rotWithShape="0">
              <a:srgbClr val="3A5A80">
                <a:alpha val="18000"/>
              </a:srgbClr>
            </a:outerShdw>
          </a:effectLst>
        </p:spPr>
      </p:sp>
      <p:sp>
        <p:nvSpPr>
          <p:cNvPr id="10" name="Text 8"/>
          <p:cNvSpPr/>
          <p:nvPr/>
        </p:nvSpPr>
        <p:spPr>
          <a:xfrm>
            <a:off x="2679192" y="4114800"/>
            <a:ext cx="1408176" cy="54864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Client B</a:t>
            </a:r>
            <a:endParaRPr lang="en-US" sz="1250" dirty="0"/>
          </a:p>
        </p:txBody>
      </p:sp>
      <p:sp>
        <p:nvSpPr>
          <p:cNvPr id="11" name="Shape 9"/>
          <p:cNvSpPr/>
          <p:nvPr/>
        </p:nvSpPr>
        <p:spPr>
          <a:xfrm>
            <a:off x="4251960" y="4114800"/>
            <a:ext cx="1554480" cy="548640"/>
          </a:xfrm>
          <a:prstGeom prst="roundRect">
            <a:avLst>
              <a:gd name="adj" fmla="val 16667"/>
            </a:avLst>
          </a:prstGeom>
          <a:solidFill>
            <a:srgbClr val="2E86DE"/>
          </a:solidFill>
          <a:ln/>
          <a:effectLst>
            <a:outerShdw blurRad="63500" dist="25400" dir="5400000" algn="bl" rotWithShape="0">
              <a:srgbClr val="3A5A80">
                <a:alpha val="18000"/>
              </a:srgbClr>
            </a:outerShdw>
          </a:effectLst>
        </p:spPr>
      </p:sp>
      <p:sp>
        <p:nvSpPr>
          <p:cNvPr id="12" name="Text 10"/>
          <p:cNvSpPr/>
          <p:nvPr/>
        </p:nvSpPr>
        <p:spPr>
          <a:xfrm>
            <a:off x="4325112" y="4114800"/>
            <a:ext cx="1408176" cy="54864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Client C</a:t>
            </a:r>
            <a:endParaRPr lang="en-US" sz="1250" dirty="0"/>
          </a:p>
        </p:txBody>
      </p:sp>
      <p:sp>
        <p:nvSpPr>
          <p:cNvPr id="13" name="Shape 11"/>
          <p:cNvSpPr/>
          <p:nvPr/>
        </p:nvSpPr>
        <p:spPr>
          <a:xfrm>
            <a:off x="3154680" y="2697480"/>
            <a:ext cx="0" cy="637794"/>
          </a:xfrm>
          <a:prstGeom prst="line">
            <a:avLst/>
          </a:prstGeom>
          <a:noFill/>
          <a:ln w="28575">
            <a:solidFill>
              <a:srgbClr val="2E86DE"/>
            </a:solidFill>
            <a:prstDash val="solid"/>
          </a:ln>
        </p:spPr>
      </p:sp>
      <p:sp>
        <p:nvSpPr>
          <p:cNvPr id="14" name="Shape 12"/>
          <p:cNvSpPr/>
          <p:nvPr/>
        </p:nvSpPr>
        <p:spPr>
          <a:xfrm>
            <a:off x="1737360" y="3335274"/>
            <a:ext cx="3291840" cy="0"/>
          </a:xfrm>
          <a:prstGeom prst="line">
            <a:avLst/>
          </a:prstGeom>
          <a:noFill/>
          <a:ln w="28575">
            <a:solidFill>
              <a:srgbClr val="2E86DE"/>
            </a:solidFill>
            <a:prstDash val="solid"/>
          </a:ln>
        </p:spPr>
      </p:sp>
      <p:sp>
        <p:nvSpPr>
          <p:cNvPr id="15" name="Shape 13"/>
          <p:cNvSpPr/>
          <p:nvPr/>
        </p:nvSpPr>
        <p:spPr>
          <a:xfrm>
            <a:off x="1737360" y="3335274"/>
            <a:ext cx="0" cy="779526"/>
          </a:xfrm>
          <a:prstGeom prst="line">
            <a:avLst/>
          </a:prstGeom>
          <a:noFill/>
          <a:ln w="28575">
            <a:solidFill>
              <a:srgbClr val="2E86DE"/>
            </a:solidFill>
            <a:prstDash val="solid"/>
            <a:tailEnd type="triangle"/>
          </a:ln>
        </p:spPr>
      </p:sp>
      <p:sp>
        <p:nvSpPr>
          <p:cNvPr id="16" name="Shape 14"/>
          <p:cNvSpPr/>
          <p:nvPr/>
        </p:nvSpPr>
        <p:spPr>
          <a:xfrm>
            <a:off x="3383280" y="3335274"/>
            <a:ext cx="0" cy="779526"/>
          </a:xfrm>
          <a:prstGeom prst="line">
            <a:avLst/>
          </a:prstGeom>
          <a:noFill/>
          <a:ln w="28575">
            <a:solidFill>
              <a:srgbClr val="2E86DE"/>
            </a:solidFill>
            <a:prstDash val="solid"/>
            <a:tailEnd type="triangle"/>
          </a:ln>
        </p:spPr>
      </p:sp>
      <p:sp>
        <p:nvSpPr>
          <p:cNvPr id="17" name="Shape 15"/>
          <p:cNvSpPr/>
          <p:nvPr/>
        </p:nvSpPr>
        <p:spPr>
          <a:xfrm>
            <a:off x="5029200" y="3335274"/>
            <a:ext cx="0" cy="779526"/>
          </a:xfrm>
          <a:prstGeom prst="line">
            <a:avLst/>
          </a:prstGeom>
          <a:noFill/>
          <a:ln w="28575">
            <a:solidFill>
              <a:srgbClr val="2E86DE"/>
            </a:solidFill>
            <a:prstDash val="solid"/>
            <a:tailEnd type="triangle"/>
          </a:ln>
        </p:spPr>
      </p:sp>
      <p:sp>
        <p:nvSpPr>
          <p:cNvPr id="18" name="Text 16"/>
          <p:cNvSpPr/>
          <p:nvPr/>
        </p:nvSpPr>
        <p:spPr>
          <a:xfrm>
            <a:off x="822960" y="4791456"/>
            <a:ext cx="4846320" cy="320040"/>
          </a:xfrm>
          <a:prstGeom prst="rect">
            <a:avLst/>
          </a:prstGeom>
          <a:noFill/>
          <a:ln/>
        </p:spPr>
        <p:txBody>
          <a:bodyPr wrap="square" rtlCol="0" anchor="ctr"/>
          <a:lstStyle/>
          <a:p>
            <a:pPr marL="0" indent="0" algn="ctr">
              <a:buNone/>
            </a:pPr>
            <a:r>
              <a:rPr lang="en-US" sz="1300" i="1" dirty="0">
                <a:solidFill>
                  <a:srgbClr val="0B3C6D"/>
                </a:solidFill>
                <a:latin typeface="Calibri" pitchFamily="34" charset="0"/>
                <a:ea typeface="Calibri" pitchFamily="34" charset="-122"/>
                <a:cs typeface="Calibri" pitchFamily="34" charset="-120"/>
              </a:rPr>
              <a:t>One-way, admin-driven, immediate</a:t>
            </a:r>
            <a:endParaRPr lang="en-US" sz="1300" dirty="0"/>
          </a:p>
        </p:txBody>
      </p:sp>
      <p:sp>
        <p:nvSpPr>
          <p:cNvPr id="19" name="Shape 17"/>
          <p:cNvSpPr/>
          <p:nvPr/>
        </p:nvSpPr>
        <p:spPr>
          <a:xfrm>
            <a:off x="822960" y="5623560"/>
            <a:ext cx="4846320" cy="457200"/>
          </a:xfrm>
          <a:prstGeom prst="roundRect">
            <a:avLst>
              <a:gd name="adj" fmla="val 24000"/>
            </a:avLst>
          </a:prstGeom>
          <a:solidFill>
            <a:srgbClr val="FFFFFF"/>
          </a:solidFill>
          <a:ln/>
          <a:effectLst>
            <a:outerShdw blurRad="76200" dist="25400" dir="5400000" algn="bl" rotWithShape="0">
              <a:srgbClr val="3A5A80">
                <a:alpha val="18000"/>
              </a:srgbClr>
            </a:outerShdw>
          </a:effectLst>
        </p:spPr>
      </p:sp>
      <p:sp>
        <p:nvSpPr>
          <p:cNvPr id="20" name="Text 18"/>
          <p:cNvSpPr/>
          <p:nvPr/>
        </p:nvSpPr>
        <p:spPr>
          <a:xfrm>
            <a:off x="822960" y="5623560"/>
            <a:ext cx="4846320" cy="457200"/>
          </a:xfrm>
          <a:prstGeom prst="rect">
            <a:avLst/>
          </a:prstGeom>
          <a:noFill/>
          <a:ln/>
        </p:spPr>
        <p:txBody>
          <a:bodyPr wrap="square" rtlCol="0" anchor="ctr"/>
          <a:lstStyle/>
          <a:p>
            <a:pPr marL="0" indent="0" algn="ctr">
              <a:buNone/>
            </a:pPr>
            <a:r>
              <a:rPr lang="en-US" sz="1350" b="1" dirty="0">
                <a:solidFill>
                  <a:srgbClr val="0B3C6D"/>
                </a:solidFill>
                <a:latin typeface="Calibri" pitchFamily="34" charset="0"/>
                <a:ea typeface="Calibri" pitchFamily="34" charset="-122"/>
                <a:cs typeface="Calibri" pitchFamily="34" charset="-120"/>
              </a:rPr>
              <a:t>Direction: Server → Clients</a:t>
            </a:r>
            <a:endParaRPr lang="en-US" sz="1350" dirty="0"/>
          </a:p>
        </p:txBody>
      </p:sp>
      <p:sp>
        <p:nvSpPr>
          <p:cNvPr id="21" name="Shape 19"/>
          <p:cNvSpPr/>
          <p:nvPr/>
        </p:nvSpPr>
        <p:spPr>
          <a:xfrm>
            <a:off x="6245352" y="1600200"/>
            <a:ext cx="5394960" cy="4572000"/>
          </a:xfrm>
          <a:prstGeom prst="roundRect">
            <a:avLst>
              <a:gd name="adj" fmla="val 2400"/>
            </a:avLst>
          </a:prstGeom>
          <a:solidFill>
            <a:srgbClr val="EAF3FC"/>
          </a:solidFill>
          <a:ln/>
          <a:effectLst>
            <a:outerShdw blurRad="76200" dist="25400" dir="5400000" algn="bl" rotWithShape="0">
              <a:srgbClr val="3A5A80">
                <a:alpha val="18000"/>
              </a:srgbClr>
            </a:outerShdw>
          </a:effectLst>
        </p:spPr>
      </p:sp>
      <p:sp>
        <p:nvSpPr>
          <p:cNvPr id="22" name="Text 20"/>
          <p:cNvSpPr/>
          <p:nvPr/>
        </p:nvSpPr>
        <p:spPr>
          <a:xfrm>
            <a:off x="6519672" y="1755648"/>
            <a:ext cx="4846320" cy="365760"/>
          </a:xfrm>
          <a:prstGeom prst="rect">
            <a:avLst/>
          </a:prstGeom>
          <a:noFill/>
          <a:ln/>
        </p:spPr>
        <p:txBody>
          <a:bodyPr wrap="square" rtlCol="0" anchor="ctr"/>
          <a:lstStyle/>
          <a:p>
            <a:pPr marL="0" indent="0" algn="ctr">
              <a:buNone/>
            </a:pPr>
            <a:r>
              <a:rPr lang="en-US" sz="1800" b="1" dirty="0">
                <a:solidFill>
                  <a:srgbClr val="0B3C6D"/>
                </a:solidFill>
                <a:latin typeface="Calibri" pitchFamily="34" charset="0"/>
                <a:ea typeface="Calibri" pitchFamily="34" charset="-122"/>
                <a:cs typeface="Calibri" pitchFamily="34" charset="-120"/>
              </a:rPr>
              <a:t>PULL MODEL</a:t>
            </a:r>
            <a:endParaRPr lang="en-US" sz="1800" dirty="0"/>
          </a:p>
        </p:txBody>
      </p:sp>
      <p:sp>
        <p:nvSpPr>
          <p:cNvPr id="23" name="Shape 21"/>
          <p:cNvSpPr/>
          <p:nvPr/>
        </p:nvSpPr>
        <p:spPr>
          <a:xfrm>
            <a:off x="7434072" y="2103120"/>
            <a:ext cx="2834640" cy="594360"/>
          </a:xfrm>
          <a:prstGeom prst="roundRect">
            <a:avLst>
              <a:gd name="adj" fmla="val 15385"/>
            </a:avLst>
          </a:prstGeom>
          <a:solidFill>
            <a:srgbClr val="0B3C6D"/>
          </a:solidFill>
          <a:ln/>
          <a:effectLst>
            <a:outerShdw blurRad="63500" dist="25400" dir="5400000" algn="bl" rotWithShape="0">
              <a:srgbClr val="3A5A80">
                <a:alpha val="18000"/>
              </a:srgbClr>
            </a:outerShdw>
          </a:effectLst>
        </p:spPr>
      </p:sp>
      <p:sp>
        <p:nvSpPr>
          <p:cNvPr id="24" name="Text 22"/>
          <p:cNvSpPr/>
          <p:nvPr/>
        </p:nvSpPr>
        <p:spPr>
          <a:xfrm>
            <a:off x="7507224" y="2103120"/>
            <a:ext cx="2688336" cy="59436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Configuration Server</a:t>
            </a:r>
            <a:endParaRPr lang="en-US" sz="1250" dirty="0"/>
          </a:p>
        </p:txBody>
      </p:sp>
      <p:sp>
        <p:nvSpPr>
          <p:cNvPr id="25" name="Shape 23"/>
          <p:cNvSpPr/>
          <p:nvPr/>
        </p:nvSpPr>
        <p:spPr>
          <a:xfrm>
            <a:off x="6656832" y="4114800"/>
            <a:ext cx="1554480" cy="548640"/>
          </a:xfrm>
          <a:prstGeom prst="roundRect">
            <a:avLst>
              <a:gd name="adj" fmla="val 16667"/>
            </a:avLst>
          </a:prstGeom>
          <a:solidFill>
            <a:srgbClr val="2E86DE"/>
          </a:solidFill>
          <a:ln/>
          <a:effectLst>
            <a:outerShdw blurRad="63500" dist="25400" dir="5400000" algn="bl" rotWithShape="0">
              <a:srgbClr val="3A5A80">
                <a:alpha val="18000"/>
              </a:srgbClr>
            </a:outerShdw>
          </a:effectLst>
        </p:spPr>
      </p:sp>
      <p:sp>
        <p:nvSpPr>
          <p:cNvPr id="26" name="Text 24"/>
          <p:cNvSpPr/>
          <p:nvPr/>
        </p:nvSpPr>
        <p:spPr>
          <a:xfrm>
            <a:off x="6729984" y="4114800"/>
            <a:ext cx="1408176" cy="54864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Client A</a:t>
            </a:r>
            <a:endParaRPr lang="en-US" sz="1250" dirty="0"/>
          </a:p>
        </p:txBody>
      </p:sp>
      <p:sp>
        <p:nvSpPr>
          <p:cNvPr id="27" name="Shape 25"/>
          <p:cNvSpPr/>
          <p:nvPr/>
        </p:nvSpPr>
        <p:spPr>
          <a:xfrm>
            <a:off x="8302752" y="4114800"/>
            <a:ext cx="1554480" cy="548640"/>
          </a:xfrm>
          <a:prstGeom prst="roundRect">
            <a:avLst>
              <a:gd name="adj" fmla="val 16667"/>
            </a:avLst>
          </a:prstGeom>
          <a:solidFill>
            <a:srgbClr val="2E86DE"/>
          </a:solidFill>
          <a:ln/>
          <a:effectLst>
            <a:outerShdw blurRad="63500" dist="25400" dir="5400000" algn="bl" rotWithShape="0">
              <a:srgbClr val="3A5A80">
                <a:alpha val="18000"/>
              </a:srgbClr>
            </a:outerShdw>
          </a:effectLst>
        </p:spPr>
      </p:sp>
      <p:sp>
        <p:nvSpPr>
          <p:cNvPr id="28" name="Text 26"/>
          <p:cNvSpPr/>
          <p:nvPr/>
        </p:nvSpPr>
        <p:spPr>
          <a:xfrm>
            <a:off x="8375904" y="4114800"/>
            <a:ext cx="1408176" cy="54864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Client B</a:t>
            </a:r>
            <a:endParaRPr lang="en-US" sz="1250" dirty="0"/>
          </a:p>
        </p:txBody>
      </p:sp>
      <p:sp>
        <p:nvSpPr>
          <p:cNvPr id="29" name="Shape 27"/>
          <p:cNvSpPr/>
          <p:nvPr/>
        </p:nvSpPr>
        <p:spPr>
          <a:xfrm>
            <a:off x="9948672" y="4114800"/>
            <a:ext cx="1554480" cy="548640"/>
          </a:xfrm>
          <a:prstGeom prst="roundRect">
            <a:avLst>
              <a:gd name="adj" fmla="val 16667"/>
            </a:avLst>
          </a:prstGeom>
          <a:solidFill>
            <a:srgbClr val="2E86DE"/>
          </a:solidFill>
          <a:ln/>
          <a:effectLst>
            <a:outerShdw blurRad="63500" dist="25400" dir="5400000" algn="bl" rotWithShape="0">
              <a:srgbClr val="3A5A80">
                <a:alpha val="18000"/>
              </a:srgbClr>
            </a:outerShdw>
          </a:effectLst>
        </p:spPr>
      </p:sp>
      <p:sp>
        <p:nvSpPr>
          <p:cNvPr id="30" name="Text 28"/>
          <p:cNvSpPr/>
          <p:nvPr/>
        </p:nvSpPr>
        <p:spPr>
          <a:xfrm>
            <a:off x="10021824" y="4114800"/>
            <a:ext cx="1408176" cy="548640"/>
          </a:xfrm>
          <a:prstGeom prst="rect">
            <a:avLst/>
          </a:prstGeom>
          <a:noFill/>
          <a:ln/>
        </p:spPr>
        <p:txBody>
          <a:bodyPr wrap="square" rtlCol="0" anchor="ctr"/>
          <a:lstStyle/>
          <a:p>
            <a:pPr marL="0" indent="0" algn="ctr">
              <a:lnSpc>
                <a:spcPct val="100000"/>
              </a:lnSpc>
              <a:buNone/>
            </a:pPr>
            <a:r>
              <a:rPr lang="en-US" sz="1250" b="1" dirty="0">
                <a:solidFill>
                  <a:srgbClr val="FFFFFF"/>
                </a:solidFill>
                <a:latin typeface="Calibri" pitchFamily="34" charset="0"/>
                <a:ea typeface="Calibri" pitchFamily="34" charset="-122"/>
                <a:cs typeface="Calibri" pitchFamily="34" charset="-120"/>
              </a:rPr>
              <a:t>Client C</a:t>
            </a:r>
            <a:endParaRPr lang="en-US" sz="1250" dirty="0"/>
          </a:p>
        </p:txBody>
      </p:sp>
      <p:sp>
        <p:nvSpPr>
          <p:cNvPr id="31" name="Shape 29"/>
          <p:cNvSpPr/>
          <p:nvPr/>
        </p:nvSpPr>
        <p:spPr>
          <a:xfrm>
            <a:off x="8851392" y="2697480"/>
            <a:ext cx="0" cy="637794"/>
          </a:xfrm>
          <a:prstGeom prst="line">
            <a:avLst/>
          </a:prstGeom>
          <a:noFill/>
          <a:ln w="28575">
            <a:solidFill>
              <a:srgbClr val="2E86DE"/>
            </a:solidFill>
            <a:prstDash val="solid"/>
          </a:ln>
        </p:spPr>
      </p:sp>
      <p:sp>
        <p:nvSpPr>
          <p:cNvPr id="32" name="Shape 30"/>
          <p:cNvSpPr/>
          <p:nvPr/>
        </p:nvSpPr>
        <p:spPr>
          <a:xfrm>
            <a:off x="7434072" y="3335274"/>
            <a:ext cx="3291840" cy="0"/>
          </a:xfrm>
          <a:prstGeom prst="line">
            <a:avLst/>
          </a:prstGeom>
          <a:noFill/>
          <a:ln w="28575">
            <a:solidFill>
              <a:srgbClr val="2E86DE"/>
            </a:solidFill>
            <a:prstDash val="solid"/>
          </a:ln>
        </p:spPr>
      </p:sp>
      <p:sp>
        <p:nvSpPr>
          <p:cNvPr id="33" name="Shape 31"/>
          <p:cNvSpPr/>
          <p:nvPr/>
        </p:nvSpPr>
        <p:spPr>
          <a:xfrm>
            <a:off x="7434072" y="3335274"/>
            <a:ext cx="0" cy="779526"/>
          </a:xfrm>
          <a:prstGeom prst="line">
            <a:avLst/>
          </a:prstGeom>
          <a:noFill/>
          <a:ln w="28575">
            <a:solidFill>
              <a:srgbClr val="2E86DE"/>
            </a:solidFill>
            <a:prstDash val="solid"/>
            <a:tailEnd type="triangle"/>
          </a:ln>
        </p:spPr>
      </p:sp>
      <p:sp>
        <p:nvSpPr>
          <p:cNvPr id="34" name="Shape 32"/>
          <p:cNvSpPr/>
          <p:nvPr/>
        </p:nvSpPr>
        <p:spPr>
          <a:xfrm>
            <a:off x="9079992" y="3335274"/>
            <a:ext cx="0" cy="779526"/>
          </a:xfrm>
          <a:prstGeom prst="line">
            <a:avLst/>
          </a:prstGeom>
          <a:noFill/>
          <a:ln w="28575">
            <a:solidFill>
              <a:srgbClr val="2E86DE"/>
            </a:solidFill>
            <a:prstDash val="solid"/>
            <a:tailEnd type="triangle"/>
          </a:ln>
        </p:spPr>
      </p:sp>
      <p:sp>
        <p:nvSpPr>
          <p:cNvPr id="35" name="Shape 33"/>
          <p:cNvSpPr/>
          <p:nvPr/>
        </p:nvSpPr>
        <p:spPr>
          <a:xfrm>
            <a:off x="10725912" y="3335274"/>
            <a:ext cx="0" cy="779526"/>
          </a:xfrm>
          <a:prstGeom prst="line">
            <a:avLst/>
          </a:prstGeom>
          <a:noFill/>
          <a:ln w="28575">
            <a:solidFill>
              <a:srgbClr val="2E86DE"/>
            </a:solidFill>
            <a:prstDash val="solid"/>
            <a:tailEnd type="triangle"/>
          </a:ln>
        </p:spPr>
      </p:sp>
      <p:sp>
        <p:nvSpPr>
          <p:cNvPr id="36" name="Text 34"/>
          <p:cNvSpPr/>
          <p:nvPr/>
        </p:nvSpPr>
        <p:spPr>
          <a:xfrm>
            <a:off x="6519672" y="4718304"/>
            <a:ext cx="4846320" cy="274320"/>
          </a:xfrm>
          <a:prstGeom prst="rect">
            <a:avLst/>
          </a:prstGeom>
          <a:noFill/>
          <a:ln/>
        </p:spPr>
        <p:txBody>
          <a:bodyPr wrap="square" rtlCol="0" anchor="ctr"/>
          <a:lstStyle/>
          <a:p>
            <a:pPr marL="0" indent="0" algn="ctr">
              <a:buNone/>
            </a:pPr>
            <a:r>
              <a:rPr lang="en-US" sz="1050" i="1" dirty="0">
                <a:solidFill>
                  <a:srgbClr val="5B6B7C"/>
                </a:solidFill>
                <a:latin typeface="Calibri" pitchFamily="34" charset="0"/>
                <a:ea typeface="Calibri" pitchFamily="34" charset="-122"/>
                <a:cs typeface="Calibri" pitchFamily="34" charset="-120"/>
              </a:rPr>
              <a:t>(clients check in periodically; server replies with changes)</a:t>
            </a:r>
            <a:endParaRPr lang="en-US" sz="1050" dirty="0"/>
          </a:p>
        </p:txBody>
      </p:sp>
      <p:sp>
        <p:nvSpPr>
          <p:cNvPr id="37" name="Text 35"/>
          <p:cNvSpPr/>
          <p:nvPr/>
        </p:nvSpPr>
        <p:spPr>
          <a:xfrm>
            <a:off x="6519672" y="5010912"/>
            <a:ext cx="4846320" cy="320040"/>
          </a:xfrm>
          <a:prstGeom prst="rect">
            <a:avLst/>
          </a:prstGeom>
          <a:noFill/>
          <a:ln/>
        </p:spPr>
        <p:txBody>
          <a:bodyPr wrap="square" rtlCol="0" anchor="ctr"/>
          <a:lstStyle/>
          <a:p>
            <a:pPr marL="0" indent="0" algn="ctr">
              <a:buNone/>
            </a:pPr>
            <a:r>
              <a:rPr lang="en-US" sz="1300" i="1" dirty="0">
                <a:solidFill>
                  <a:srgbClr val="0B3C6D"/>
                </a:solidFill>
                <a:latin typeface="Calibri" pitchFamily="34" charset="0"/>
                <a:ea typeface="Calibri" pitchFamily="34" charset="-122"/>
                <a:cs typeface="Calibri" pitchFamily="34" charset="-120"/>
              </a:rPr>
              <a:t>Two-way, client-driven, scheduled</a:t>
            </a:r>
            <a:endParaRPr lang="en-US" sz="1300" dirty="0"/>
          </a:p>
        </p:txBody>
      </p:sp>
      <p:sp>
        <p:nvSpPr>
          <p:cNvPr id="38" name="Shape 36"/>
          <p:cNvSpPr/>
          <p:nvPr/>
        </p:nvSpPr>
        <p:spPr>
          <a:xfrm>
            <a:off x="6519672" y="5623560"/>
            <a:ext cx="4846320" cy="457200"/>
          </a:xfrm>
          <a:prstGeom prst="roundRect">
            <a:avLst>
              <a:gd name="adj" fmla="val 24000"/>
            </a:avLst>
          </a:prstGeom>
          <a:solidFill>
            <a:srgbClr val="FFFFFF"/>
          </a:solidFill>
          <a:ln/>
          <a:effectLst>
            <a:outerShdw blurRad="76200" dist="25400" dir="5400000" algn="bl" rotWithShape="0">
              <a:srgbClr val="3A5A80">
                <a:alpha val="18000"/>
              </a:srgbClr>
            </a:outerShdw>
          </a:effectLst>
        </p:spPr>
      </p:sp>
      <p:sp>
        <p:nvSpPr>
          <p:cNvPr id="39" name="Text 37"/>
          <p:cNvSpPr/>
          <p:nvPr/>
        </p:nvSpPr>
        <p:spPr>
          <a:xfrm>
            <a:off x="6519672" y="5623560"/>
            <a:ext cx="4846320" cy="457200"/>
          </a:xfrm>
          <a:prstGeom prst="rect">
            <a:avLst/>
          </a:prstGeom>
          <a:noFill/>
          <a:ln/>
        </p:spPr>
        <p:txBody>
          <a:bodyPr wrap="square" rtlCol="0" anchor="ctr"/>
          <a:lstStyle/>
          <a:p>
            <a:pPr marL="0" indent="0" algn="ctr">
              <a:buNone/>
            </a:pPr>
            <a:r>
              <a:rPr lang="en-US" sz="1350" b="1" dirty="0">
                <a:solidFill>
                  <a:srgbClr val="0B3C6D"/>
                </a:solidFill>
                <a:latin typeface="Calibri" pitchFamily="34" charset="0"/>
                <a:ea typeface="Calibri" pitchFamily="34" charset="-122"/>
                <a:cs typeface="Calibri" pitchFamily="34" charset="-120"/>
              </a:rPr>
              <a:t>Direction: Clients ↔ Server (client-initiated)</a:t>
            </a:r>
            <a:endParaRPr lang="en-US" sz="1350" dirty="0"/>
          </a:p>
        </p:txBody>
      </p:sp>
      <p:sp>
        <p:nvSpPr>
          <p:cNvPr id="40" name="Text 38"/>
          <p:cNvSpPr/>
          <p:nvPr/>
        </p:nvSpPr>
        <p:spPr>
          <a:xfrm>
            <a:off x="457200" y="6473952"/>
            <a:ext cx="7315200" cy="274320"/>
          </a:xfrm>
          <a:prstGeom prst="rect">
            <a:avLst/>
          </a:prstGeom>
          <a:noFill/>
          <a:ln/>
        </p:spPr>
        <p:txBody>
          <a:bodyPr wrap="square" rtlCol="0" anchor="ctr"/>
          <a:lstStyle/>
          <a:p>
            <a:pPr marL="0" indent="0" algn="l">
              <a:buNone/>
            </a:pPr>
            <a:r>
              <a:rPr lang="en-US" sz="1100" dirty="0">
                <a:solidFill>
                  <a:srgbClr val="5B6B7C"/>
                </a:solidFill>
                <a:latin typeface="Calibri" pitchFamily="34" charset="0"/>
                <a:ea typeface="Calibri" pitchFamily="34" charset="-122"/>
                <a:cs typeface="Calibri" pitchFamily="34" charset="-120"/>
              </a:rPr>
              <a:t>Architecture Comparison</a:t>
            </a:r>
            <a:endParaRPr lang="en-US" sz="1100" dirty="0"/>
          </a:p>
        </p:txBody>
      </p:sp>
      <p:sp>
        <p:nvSpPr>
          <p:cNvPr id="41" name="Text 39"/>
          <p:cNvSpPr/>
          <p:nvPr/>
        </p:nvSpPr>
        <p:spPr>
          <a:xfrm>
            <a:off x="11274552" y="6473952"/>
            <a:ext cx="457200" cy="274320"/>
          </a:xfrm>
          <a:prstGeom prst="rect">
            <a:avLst/>
          </a:prstGeom>
          <a:noFill/>
          <a:ln/>
        </p:spPr>
        <p:txBody>
          <a:bodyPr wrap="square" rtlCol="0" anchor="ctr"/>
          <a:lstStyle/>
          <a:p>
            <a:pPr marL="0" indent="0" algn="r">
              <a:buNone/>
            </a:pPr>
            <a:r>
              <a:rPr lang="en-US" sz="1100" dirty="0">
                <a:solidFill>
                  <a:srgbClr val="5B6B7C"/>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1342</Words>
  <Application>Microsoft Office PowerPoint</Application>
  <PresentationFormat>Widescreen</PresentationFormat>
  <Paragraphs>228</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Manpreet Kaur</cp:lastModifiedBy>
  <cp:revision>3</cp:revision>
  <dcterms:created xsi:type="dcterms:W3CDTF">2026-07-28T04:48:04Z</dcterms:created>
  <dcterms:modified xsi:type="dcterms:W3CDTF">2026-07-28T05:07:52Z</dcterms:modified>
</cp:coreProperties>
</file>